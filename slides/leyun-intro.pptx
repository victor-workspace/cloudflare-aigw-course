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2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0782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75564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10312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9644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42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70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26136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7108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1856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61188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6576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487680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498652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在地技術團隊 × 開源實作分享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33400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本地專屬技術團隊全程中文溝通，無語言與時差困擾。樂雲長期投入開源教材與技術社群，本課程即為公開教材的一部分。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22732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27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開放原始碼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501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102352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84632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4+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57200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服務涵蓋產業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6986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6986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316986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 LLM 模型數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6772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76772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全球 PoP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36558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36558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地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9036558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海外 24/7 覆蓋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559612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製造、旅遊、物流、媒體娛樂多產業整合經驗 · AI Gateway 統一治理 51+ LLM 模型 · 台灣使用者延遲 &lt;5ms · 台灣白班 + 海外夜班不間斷技術支援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72786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Open Ecosystem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3660648" cy="41605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4747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776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480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Anycast 自動路由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983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5486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502920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502920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640080" y="539496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264152" y="1645920"/>
            <a:ext cx="3660648" cy="41605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264152" y="164592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6" name="Text 23"/>
          <p:cNvSpPr/>
          <p:nvPr/>
        </p:nvSpPr>
        <p:spPr>
          <a:xfrm>
            <a:off x="4264152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4401312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4401312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4401312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38472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1" name="Text 28"/>
          <p:cNvSpPr/>
          <p:nvPr/>
        </p:nvSpPr>
        <p:spPr>
          <a:xfrm>
            <a:off x="4447032" y="34747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39776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480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447032" y="4983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447032" y="5486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 Logs / Analytics 儀表板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447032" y="5029200"/>
            <a:ext cx="3294888" cy="65836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7" name="Text 34"/>
          <p:cNvSpPr/>
          <p:nvPr/>
        </p:nvSpPr>
        <p:spPr>
          <a:xfrm>
            <a:off x="4447032" y="502920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4447032" y="539496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180076" y="1371600"/>
            <a:ext cx="1828800" cy="3200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5180076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8071104" y="1645920"/>
            <a:ext cx="3660648" cy="41605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071104" y="164592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3" name="Text 40"/>
          <p:cNvSpPr/>
          <p:nvPr/>
        </p:nvSpPr>
        <p:spPr>
          <a:xfrm>
            <a:off x="8071104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8208264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5" name="Text 42"/>
          <p:cNvSpPr/>
          <p:nvPr/>
        </p:nvSpPr>
        <p:spPr>
          <a:xfrm>
            <a:off x="8208264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 Ecosystem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8208264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標準協議 + 多家 provider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45424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8" name="Text 45"/>
          <p:cNvSpPr/>
          <p:nvPr/>
        </p:nvSpPr>
        <p:spPr>
          <a:xfrm>
            <a:off x="8253984" y="347472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MCP 標準工具呼叫協議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397764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相容 OpenAI / Anthropic / Google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253984" y="448056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Workers AI 邊緣推論一併使用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253984" y="498348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工具開發者社群活躍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8253984" y="5486400"/>
            <a:ext cx="32948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完整官方文件 + 教學範例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53984" y="5029200"/>
            <a:ext cx="3294888" cy="65836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4" name="Text 51"/>
          <p:cNvSpPr/>
          <p:nvPr/>
        </p:nvSpPr>
        <p:spPr>
          <a:xfrm>
            <a:off x="8253984" y="5029200"/>
            <a:ext cx="3294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800" dirty="0"/>
          </a:p>
        </p:txBody>
      </p:sp>
      <p:sp>
        <p:nvSpPr>
          <p:cNvPr id="55" name="Text 52"/>
          <p:cNvSpPr/>
          <p:nvPr/>
        </p:nvSpPr>
        <p:spPr>
          <a:xfrm>
            <a:off x="8253984" y="539496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開放協議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591616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7" name="Shape 54"/>
          <p:cNvSpPr/>
          <p:nvPr/>
        </p:nvSpPr>
        <p:spPr>
          <a:xfrm>
            <a:off x="457200" y="591616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8" name="Text 55"/>
          <p:cNvSpPr/>
          <p:nvPr/>
        </p:nvSpPr>
        <p:spPr>
          <a:xfrm>
            <a:off x="640080" y="591616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× BUSINESS MODEL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的技術定位與商業模式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12648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理解「為什麼這個技術可以變成可持續服務」— Cloud Native 時代的 B2B 軟體商業邏輯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AFBF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91640"/>
            <a:ext cx="548640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  技術角度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42316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05840" y="23774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Native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05840" y="26700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+ AI Gateway 在 300+ PoP 同步部署，無 cold start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313639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136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" y="3090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Stateless Gateway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集中設定，Worker 端零 secret 滲漏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384962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8496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" y="3803904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Multi-Provider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05840" y="40965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 URL 路徑切換 51+ LLM，模型選擇與商業耦合解開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5628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45628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" y="4517136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 Protocol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005840" y="480974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標準化工具呼叫，agent 可跨廠商組合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" y="527608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52760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005840" y="52303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Observability First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05840" y="55229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 inference 預設記錄 token / latency / cost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45352" y="169164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AFBFC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45352" y="1691640"/>
            <a:ext cx="5486400" cy="5486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4" name="Text 31"/>
          <p:cNvSpPr/>
          <p:nvPr/>
        </p:nvSpPr>
        <p:spPr>
          <a:xfrm>
            <a:off x="6428232" y="16916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💼  商業模式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428232" y="2423160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6" name="Text 33"/>
          <p:cNvSpPr/>
          <p:nvPr/>
        </p:nvSpPr>
        <p:spPr>
          <a:xfrm>
            <a:off x="6428232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793992" y="23774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Usage-Based Pricing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793992" y="26700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 token 量計費，客戶 CAPEX → OPEX 轉換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428232" y="3136392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6428232" y="3136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793992" y="3090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Land &amp; Expand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6793992" y="3383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為入口，後續擴展 ZTNA / SOC / MSSP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428232" y="3849624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4" name="Text 41"/>
          <p:cNvSpPr/>
          <p:nvPr/>
        </p:nvSpPr>
        <p:spPr>
          <a:xfrm>
            <a:off x="6428232" y="38496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793992" y="3803904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MSSP / ARR 模型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793992" y="40965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月費訂閱 + 託管監控，建立可預測現金流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428232" y="4562856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8" name="Text 45"/>
          <p:cNvSpPr/>
          <p:nvPr/>
        </p:nvSpPr>
        <p:spPr>
          <a:xfrm>
            <a:off x="6428232" y="45628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6793992" y="4517136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Marketplace Ecosystem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93992" y="480974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CF 一級夥伴生態，享受技術更新紅利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428232" y="5276088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52" name="Text 49"/>
          <p:cNvSpPr/>
          <p:nvPr/>
        </p:nvSpPr>
        <p:spPr>
          <a:xfrm>
            <a:off x="6428232" y="52760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793992" y="52303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Cross-sell 漏斗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6793992" y="55229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AI 治理切入 → 帶出整體資安解決方案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TAKE HOME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碩士生視角：這堂課你會帶走什麼？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71830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一個能跑的開源骨架 + 一套可遷移到任何雲平台的設計概念 + 後續可深入的研究地圖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🎓  可帶走的技能與資產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2402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7432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部署到自己 CF 帳號的 AI Gateway 實作經驗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7490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邊緣運算 × 多模型 routing 的系統設計思維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251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MCP 協議與 agentic loop 的程式碼級理解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🔬  延伸可探索的研究方向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240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🧠 LLM Routing：依語意分流到不同 model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743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Cost-aware Caching：精準命中 vs 模糊命中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3246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Guardrail 評估：誤判率 / 漏報率分析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🔁 Agentic Loop 安全性：tool injection 防護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4251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📊 多租戶治理：邊緣端 policy enforcement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989320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989320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989320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本課程的程式碼骨架可作為碩士論文 / 期末專題的起點 — 你可以基於它探索 LLM 系統研究、邊緣 AI 架構或多 agent 協作議題。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技術交流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樂雲智能股份有限公司 · LEYUN Intelligence Co., Ltd.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Repo 持續開放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歡迎延伸研究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本課程講師 Victor Lin · 企業客戶解決方案事業部主管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課後問題、PR 貢獻或研究議題討論皆歡迎來信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github.com/victor80122/cloudflare-aigw-course · MIT License · 任意衍生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2026-05-16T10:50:20Z</dcterms:created>
  <dcterms:modified xsi:type="dcterms:W3CDTF">2026-05-16T10:50:20Z</dcterms:modified>
</cp:coreProperties>
</file>