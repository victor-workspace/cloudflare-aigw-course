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19088"/>
            <a:ext cx="11274552" cy="27432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3802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961120" y="0"/>
            <a:ext cx="3200400" cy="36576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9601200" y="5029200"/>
            <a:ext cx="2560320" cy="18288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4" name="Shape 2"/>
          <p:cNvSpPr/>
          <p:nvPr/>
        </p:nvSpPr>
        <p:spPr>
          <a:xfrm>
            <a:off x="11247120" y="3657600"/>
            <a:ext cx="548640" cy="548640"/>
          </a:xfrm>
          <a:prstGeom prst="diamond">
            <a:avLst/>
          </a:prstGeom>
          <a:solidFill>
            <a:srgbClr val="1E5BC6"/>
          </a:solidFill>
          <a:ln/>
        </p:spPr>
      </p:sp>
      <p:pic>
        <p:nvPicPr>
          <p:cNvPr id="5" name="Image 0" descr="/home/shark/workspace/obsidian-brain-victor/Resources/Presentation-Library/_templates/assets/leyu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371600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POWERED+ · ISO 27001 · AI GATEWAY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LEYUN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公司簡介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5742432" cy="228600"/>
          </a:xfrm>
          <a:prstGeom prst="rect">
            <a:avLst/>
          </a:prstGeom>
          <a:solidFill>
            <a:srgbClr val="B8E6CE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To empower enterprises to do business globally without any risk.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講師: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 Lin · 解決方案事業部主管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4864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2 小時 Workshop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資訊安全  |  雲端服務  |  AI 整合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6263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YOUR SUCCESS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LEYUN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樂雲是誰：台灣資安雲端整合的領航者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4608576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從產品代理到解決方案 — 三層信任建構樂雲的差異化定位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7276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72768"/>
            <a:ext cx="502920" cy="16002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57276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43000" y="168249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Powered+ 核心合作夥伴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43000" y="202996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台灣唯一 Cloudflare Powered+ 認證夥伴，擁有原廠最高等級技術支援能力。從 WAF / DDoS 防護到 Zero Trust / AI Gateway，全產品線授權銷售與部署能量。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314432" y="198424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314432" y="202996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認證等級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314432" y="225856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Powered+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57200" y="331012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3310128"/>
            <a:ext cx="502920" cy="1600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31012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43000" y="341985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ISO 27001 國際資安認證 + 履約保證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43000" y="376732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通過 ISO/IEC 27001:2022 國際資訊安全管理系統認證，並完成金融機構履約保證簽署。第三方保障機制讓客戶安心託付關鍵業務。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314432" y="372160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314432" y="3767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保障層級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314432" y="399592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ISO+履約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457200" y="504748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5047488"/>
            <a:ext cx="502920" cy="1600200"/>
          </a:xfrm>
          <a:prstGeom prst="rect">
            <a:avLst/>
          </a:prstGeom>
          <a:solidFill>
            <a:srgbClr val="1E5BC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04748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143000" y="515721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台灣在地顧問團隊 × PoC 免費試用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143000" y="550468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本地專屬顧問全程中文溝通，無語言與時差困擾。提供 30 天 PoC 免費試用，讓企業先驗證再採購，降低決策風險。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314432" y="545896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314432" y="550468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PoC 期間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573328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天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SOLUTION PROGRAMS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樂雲三大解決方案 Program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6071616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以可複製的 Program 思維打包整合方案 — 不賣單品、賣結果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08760"/>
            <a:ext cx="3657600" cy="4572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5087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Program 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SASE / Zero Trust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2423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製造業 × 物流業整合方案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27889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Cloudflare ZTNA + SWG + Magic WAN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154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取代傳統 VPN，無代理部署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520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Anycast 300+ PoP，台灣 &lt;5ms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5212080"/>
            <a:ext cx="3657600" cy="4572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5285232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代表案例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550468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新竹物流（部署中）· 中美矽晶（NT$800萬 Lab Demo）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270248" y="150876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270248" y="1508760"/>
            <a:ext cx="3657600" cy="4572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4453128" y="15087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Program 2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4453128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Security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453128" y="2423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治理 × 自動化 SOC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453128" y="27889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Cloudflare AI Gateway 統一治理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453128" y="3154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Intezer AI SOC 自動威脅分析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53128" y="3520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降低告警假陽性 80%+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270248" y="5212080"/>
            <a:ext cx="3657600" cy="4572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29" name="Text 26"/>
          <p:cNvSpPr/>
          <p:nvPr/>
        </p:nvSpPr>
        <p:spPr>
          <a:xfrm>
            <a:off x="4453128" y="5285232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代表案例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453128" y="550468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鈊象電子（ARR 提案）· 雄獅旅遊（C-level 決策中）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8083296" y="150876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83296" y="1508760"/>
            <a:ext cx="3657600" cy="4572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3" name="Text 30"/>
          <p:cNvSpPr/>
          <p:nvPr/>
        </p:nvSpPr>
        <p:spPr>
          <a:xfrm>
            <a:off x="8266176" y="15087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Program 3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8266176" y="2057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ARR / MSSP</a:t>
            </a:r>
            <a:endParaRPr lang="en-US" sz="1800" dirty="0"/>
          </a:p>
        </p:txBody>
      </p:sp>
      <p:sp>
        <p:nvSpPr>
          <p:cNvPr id="35" name="Text 32"/>
          <p:cNvSpPr/>
          <p:nvPr/>
        </p:nvSpPr>
        <p:spPr>
          <a:xfrm>
            <a:off x="8266176" y="24231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訂閱型資安服務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266176" y="27889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月費訂閱 + 24/7 SOC 監控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8266176" y="3154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MSSP 託管服務模式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66176" y="35204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降低客戶 CAPEX，提高樂雲 ARR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8083296" y="5212080"/>
            <a:ext cx="3657600" cy="45720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0" name="Text 37"/>
          <p:cNvSpPr/>
          <p:nvPr/>
        </p:nvSpPr>
        <p:spPr>
          <a:xfrm>
            <a:off x="8266176" y="5285232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代表案例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8266176" y="550468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和雲行動服務（$5,450/月）· 鈊象 WAF 月費模型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457200" y="5989320"/>
            <a:ext cx="11274552" cy="365760"/>
          </a:xfrm>
          <a:prstGeom prst="roundRect">
            <a:avLst>
              <a:gd name="adj" fmla="val 15000"/>
            </a:avLst>
          </a:prstGeom>
          <a:solidFill>
            <a:srgbClr val="F0F6FF"/>
          </a:solidFill>
          <a:ln/>
        </p:spPr>
      </p:sp>
      <p:sp>
        <p:nvSpPr>
          <p:cNvPr id="43" name="Shape 40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4" name="Text 41"/>
          <p:cNvSpPr/>
          <p:nvPr/>
        </p:nvSpPr>
        <p:spPr>
          <a:xfrm>
            <a:off x="640080" y="5989320"/>
            <a:ext cx="11000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本課程聚焦 Program 2 的核心元件 — Cloudflare AI Gateway，學員上完課即可自行部署可商用骨架。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MATRIX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樂雲產品矩陣 — 覆蓋資安、雲端、AI 全鏈路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5779008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Cloudflare 全球基礎建設到 AI 治理，提供企業級一站式整合方案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  網站效能與防護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CDN 全球加速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WAF 應用防火牆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DDoS 攻擊防護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Bot 機器人防制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API Shield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300984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300984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3438144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🛡️  Zero Trust 安全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483864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ZTNA 無代理存取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483864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SWG 網際網路過濾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83864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RBI 瀏覽器隔離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483864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DLP 資料防洩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483864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身份驗證整合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44768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144768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6281928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🤖  AI 整合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327648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AI Gateway 51 模型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327648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Workers AI 邊緣推論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327648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Vectorize 向量檢索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327648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AI Search 語義搜尋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327648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Guardrails 防護欄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988552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988552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5" name="Text 32"/>
          <p:cNvSpPr/>
          <p:nvPr/>
        </p:nvSpPr>
        <p:spPr>
          <a:xfrm>
            <a:off x="9125712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🏢  企業骨幹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9171432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Magic WAN SD-WAN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9171432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Cloudflare Tunnel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9171432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Email Security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9171432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Workers / Pages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171432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D1 / KV / R2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VOICES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客戶見證：來自不同產業的真實回饋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490118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從電商、能源到傳統媒體 — 樂雲服務跨越產業界線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3657600" cy="4114800"/>
          </a:xfrm>
          <a:prstGeom prst="roundRect">
            <a:avLst>
              <a:gd name="adj" fmla="val 2500"/>
            </a:avLst>
          </a:prstGeom>
          <a:solidFill>
            <a:srgbClr val="FAFBFC"/>
          </a:solidFill>
          <a:ln w="19050">
            <a:solidFill>
              <a:srgbClr val="F3802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69164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endParaRPr lang="en-US" sz="6000" dirty="0"/>
          </a:p>
        </p:txBody>
      </p:sp>
      <p:sp>
        <p:nvSpPr>
          <p:cNvPr id="11" name="Text 8"/>
          <p:cNvSpPr/>
          <p:nvPr/>
        </p:nvSpPr>
        <p:spPr>
          <a:xfrm>
            <a:off x="731520" y="228600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導入 Cloudflare CDN 後，網站速度明顯提升，旅遊旺季流量再多也不怕。樂雲顧問非常親切，遇到問題隨時有人處理。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5029200"/>
            <a:ext cx="3291840" cy="2743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51206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可樂旅遊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5413248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IT 負責人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270248" y="1554480"/>
            <a:ext cx="3657600" cy="4114800"/>
          </a:xfrm>
          <a:prstGeom prst="roundRect">
            <a:avLst>
              <a:gd name="adj" fmla="val 2500"/>
            </a:avLst>
          </a:prstGeom>
          <a:solidFill>
            <a:srgbClr val="FAFBFC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53128" y="169164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endParaRPr lang="en-US" sz="6000" dirty="0"/>
          </a:p>
        </p:txBody>
      </p:sp>
      <p:sp>
        <p:nvSpPr>
          <p:cNvPr id="17" name="Text 14"/>
          <p:cNvSpPr/>
          <p:nvPr/>
        </p:nvSpPr>
        <p:spPr>
          <a:xfrm>
            <a:off x="4544568" y="228600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工控系統連網後一直擔心安全問題，樂雲幫我們做了完整規劃，讓我們放心很多，不用自己摸索。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453128" y="5029200"/>
            <a:ext cx="3291840" cy="2743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6"/>
          <p:cNvSpPr/>
          <p:nvPr/>
        </p:nvSpPr>
        <p:spPr>
          <a:xfrm>
            <a:off x="4453128" y="51206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富威電力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453128" y="5413248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資訊主管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83296" y="1554480"/>
            <a:ext cx="3657600" cy="4114800"/>
          </a:xfrm>
          <a:prstGeom prst="roundRect">
            <a:avLst>
              <a:gd name="adj" fmla="val 2500"/>
            </a:avLst>
          </a:prstGeom>
          <a:solidFill>
            <a:srgbClr val="FAFBFC"/>
          </a:solidFill>
          <a:ln w="19050">
            <a:solidFill>
              <a:srgbClr val="1E5B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66176" y="1691640"/>
            <a:ext cx="731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E5B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endParaRPr lang="en-US" sz="6000" dirty="0"/>
          </a:p>
        </p:txBody>
      </p:sp>
      <p:sp>
        <p:nvSpPr>
          <p:cNvPr id="23" name="Text 20"/>
          <p:cNvSpPr/>
          <p:nvPr/>
        </p:nvSpPr>
        <p:spPr>
          <a:xfrm>
            <a:off x="8357616" y="228600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遇到緊急資安事件時，樂雲的支援速度很快，完全不需要等待，這就是專業的差別。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8266176" y="5029200"/>
            <a:ext cx="3291840" cy="27432"/>
          </a:xfrm>
          <a:prstGeom prst="rect">
            <a:avLst/>
          </a:prstGeom>
          <a:solidFill>
            <a:srgbClr val="1E5BC6"/>
          </a:solidFill>
          <a:ln/>
        </p:spPr>
      </p:sp>
      <p:sp>
        <p:nvSpPr>
          <p:cNvPr id="25" name="Text 22"/>
          <p:cNvSpPr/>
          <p:nvPr/>
        </p:nvSpPr>
        <p:spPr>
          <a:xfrm>
            <a:off x="8266176" y="51206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網路媒體公司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266176" y="5413248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營運長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LEYUN BY THE NUMBERS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樂雲現況指標（2026 Q2）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5486400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不只是代理商 — 解決方案與服務能力雙軌成長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CLOUDFLARE AI GATEWAY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為什麼樂雲選擇 Cloudflare AI Gateway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8266176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同類產品比較 — Cloudflare 在 Edge / Governance / TCO 三軸領先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3660648" cy="461772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08760"/>
            <a:ext cx="3660648" cy="640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64592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⚡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594360" y="210312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94360" y="246888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Edge Computing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94360" y="280720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300+ 全球 PoP，最近節點處理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31520" y="322783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333756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台灣使用者延遲 &lt;5ms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84048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無需自建 GPU 基礎建設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434340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Anycast 自動路由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484632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與 Workers / D1 / KV 原生整合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534924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 Cold Start 顧慮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5349240"/>
            <a:ext cx="3294888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5349240"/>
            <a:ext cx="3294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&lt;5ms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40080" y="571500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台灣平均延遲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264152" y="1508760"/>
            <a:ext cx="3660648" cy="4617720"/>
          </a:xfrm>
          <a:prstGeom prst="rect">
            <a:avLst/>
          </a:prstGeom>
          <a:solidFill>
            <a:srgbClr val="FFF8F2"/>
          </a:solidFill>
          <a:ln w="12700">
            <a:solidFill>
              <a:srgbClr val="F3802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4152" y="1508760"/>
            <a:ext cx="3660648" cy="6400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6" name="Text 23"/>
          <p:cNvSpPr/>
          <p:nvPr/>
        </p:nvSpPr>
        <p:spPr>
          <a:xfrm>
            <a:off x="4264152" y="164592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🛡️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4401312" y="210312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2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4401312" y="246888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統一治理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401312" y="280720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+ Policy + Guardrails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38472" y="322783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1" name="Text 28"/>
          <p:cNvSpPr/>
          <p:nvPr/>
        </p:nvSpPr>
        <p:spPr>
          <a:xfrm>
            <a:off x="4447032" y="333756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51+ LLM 模型統一入口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447032" y="384048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API Key 由 Gateway 後端保管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447032" y="434340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Policy Engine 部門/職級控管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447032" y="484632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Guardrails 自動偵測 PII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447032" y="534924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完整 Logs / Analytics 儀表板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447032" y="5349240"/>
            <a:ext cx="3294888" cy="65836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7" name="Text 34"/>
          <p:cNvSpPr/>
          <p:nvPr/>
        </p:nvSpPr>
        <p:spPr>
          <a:xfrm>
            <a:off x="4447032" y="5349240"/>
            <a:ext cx="3294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51+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4447032" y="571500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可管理模型數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180076" y="1234440"/>
            <a:ext cx="1828800" cy="32004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0" name="Text 37"/>
          <p:cNvSpPr/>
          <p:nvPr/>
        </p:nvSpPr>
        <p:spPr>
          <a:xfrm>
            <a:off x="5180076" y="1234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⭐ 建議方案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8071104" y="1508760"/>
            <a:ext cx="3660648" cy="461772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071104" y="1508760"/>
            <a:ext cx="3660648" cy="640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3" name="Text 40"/>
          <p:cNvSpPr/>
          <p:nvPr/>
        </p:nvSpPr>
        <p:spPr>
          <a:xfrm>
            <a:off x="8071104" y="164592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💰</a:t>
            </a:r>
            <a:endParaRPr lang="en-US" sz="2000" dirty="0"/>
          </a:p>
        </p:txBody>
      </p:sp>
      <p:sp>
        <p:nvSpPr>
          <p:cNvPr id="44" name="Text 41"/>
          <p:cNvSpPr/>
          <p:nvPr/>
        </p:nvSpPr>
        <p:spPr>
          <a:xfrm>
            <a:off x="8208264" y="210312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3</a:t>
            </a:r>
            <a:endParaRPr lang="en-US" sz="1600" dirty="0"/>
          </a:p>
        </p:txBody>
      </p:sp>
      <p:sp>
        <p:nvSpPr>
          <p:cNvPr id="45" name="Text 42"/>
          <p:cNvSpPr/>
          <p:nvPr/>
        </p:nvSpPr>
        <p:spPr>
          <a:xfrm>
            <a:off x="8208264" y="246888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TCO 最優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8208264" y="280720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免費 tier + 按用量計費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345424" y="322783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8" name="Text 45"/>
          <p:cNvSpPr/>
          <p:nvPr/>
        </p:nvSpPr>
        <p:spPr>
          <a:xfrm>
            <a:off x="8253984" y="333756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Gateway 本身免費（10k req/day）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8253984" y="384048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Cache 命中 0 成本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8253984" y="434340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 minimum spend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8253984" y="484632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成本可視性 + 月度報告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8253984" y="534924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取代多家自建 LLM proxy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8253984" y="5349240"/>
            <a:ext cx="3294888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4" name="Text 51"/>
          <p:cNvSpPr/>
          <p:nvPr/>
        </p:nvSpPr>
        <p:spPr>
          <a:xfrm>
            <a:off x="8253984" y="5349240"/>
            <a:ext cx="3294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NT$0</a:t>
            </a:r>
            <a:endParaRPr lang="en-US" sz="1800" dirty="0"/>
          </a:p>
        </p:txBody>
      </p:sp>
      <p:sp>
        <p:nvSpPr>
          <p:cNvPr id="55" name="Text 52"/>
          <p:cNvSpPr/>
          <p:nvPr/>
        </p:nvSpPr>
        <p:spPr>
          <a:xfrm>
            <a:off x="8253984" y="571500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Gateway 月費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457200" y="6236208"/>
            <a:ext cx="11274552" cy="347472"/>
          </a:xfrm>
          <a:prstGeom prst="roundRect">
            <a:avLst>
              <a:gd name="adj" fmla="val 15789"/>
            </a:avLst>
          </a:prstGeom>
          <a:solidFill>
            <a:srgbClr val="F0F6FF"/>
          </a:solidFill>
          <a:ln/>
        </p:spPr>
      </p:sp>
      <p:sp>
        <p:nvSpPr>
          <p:cNvPr id="57" name="Shape 54"/>
          <p:cNvSpPr/>
          <p:nvPr/>
        </p:nvSpPr>
        <p:spPr>
          <a:xfrm>
            <a:off x="457200" y="6236208"/>
            <a:ext cx="54864" cy="34747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58" name="Text 55"/>
          <p:cNvSpPr/>
          <p:nvPr/>
        </p:nvSpPr>
        <p:spPr>
          <a:xfrm>
            <a:off x="640080" y="6236208"/>
            <a:ext cx="11000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⚡ 對企業而言，AI Gateway 的價值不只在便宜，更在「可治理、可稽核、可預測成本」— 這正是樂雲解決方案的核心訴求。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LEYUN AIGW SERVICE TIERS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 AI Gateway 商用方案三層分級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709574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對應企業 AI 治理成熟度的三年陪伴模型 — 從 PoC 到全廠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57200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合規啟航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14400" y="2468880"/>
            <a:ext cx="2743200" cy="1828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3" name="Text 10"/>
          <p:cNvSpPr/>
          <p:nvPr/>
        </p:nvSpPr>
        <p:spPr>
          <a:xfrm>
            <a:off x="731520" y="2606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AI Gateway 部署 + Policy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31520" y="2971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單一部門試點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31520" y="3337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基礎 Token 儀表板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31520" y="3703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PoC 顧問支援 2 週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457200" y="4297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NT$80-150萬/年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57200" y="4846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適用對象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40080" y="50749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預備導入 AI 治理的中小企業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270248" y="155448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38020"/>
          </a:solidFill>
          <a:ln w="25400">
            <a:solidFill>
              <a:srgbClr val="F3802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270248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4270248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全廠擴展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727448" y="2468880"/>
            <a:ext cx="2743200" cy="182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4544568" y="2606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多部門 Policy 分級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4544568" y="2971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完整 Guardrails 規則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544568" y="3337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成本分攤儀表板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44568" y="3703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客製化稽核 Workflow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4270248" y="4297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NT$400-600萬/年</a:t>
            </a:r>
            <a:endParaRPr lang="en-US" sz="1800" dirty="0"/>
          </a:p>
        </p:txBody>
      </p:sp>
      <p:sp>
        <p:nvSpPr>
          <p:cNvPr id="29" name="Text 26"/>
          <p:cNvSpPr/>
          <p:nvPr/>
        </p:nvSpPr>
        <p:spPr>
          <a:xfrm>
            <a:off x="4270248" y="4846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適用對象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453128" y="50749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已有 AI 工具但失控的中型企業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83296" y="1554480"/>
            <a:ext cx="3657600" cy="42976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083296" y="16916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8083296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戰略治理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8540496" y="2468880"/>
            <a:ext cx="2743200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5" name="Text 32"/>
          <p:cNvSpPr/>
          <p:nvPr/>
        </p:nvSpPr>
        <p:spPr>
          <a:xfrm>
            <a:off x="8357616" y="26060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Advanced 全部 + 24/7 SOC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8357616" y="29718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專屬 TAM 技術窗口</a:t>
            </a:r>
            <a:endParaRPr lang="en-US" sz="1150" dirty="0"/>
          </a:p>
        </p:txBody>
      </p:sp>
      <p:sp>
        <p:nvSpPr>
          <p:cNvPr id="37" name="Text 34"/>
          <p:cNvSpPr/>
          <p:nvPr/>
        </p:nvSpPr>
        <p:spPr>
          <a:xfrm>
            <a:off x="8357616" y="333756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季度資安健診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8357616" y="37033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與 ZTNA + Intezer 整合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8083296" y="42976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NT$800-1,200萬/年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8083296" y="4846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適用對象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8266176" y="50749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大型企業 / 金融 / 製造業旗艦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COURSE FITS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這堂課在樂雲整體戰略中的位置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563270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本課程是樂雲「以教育帶動商用」策略的一環 — 學員即未來潛在合作夥伴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150876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課程提供的給學員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96596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完整可跑的 Cloudflare Worker 程式碼骨架（MIT 授權）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24688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自己帳號上的 AI Gateway PoC 環境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297180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對 BYOK / Policy / Guardrails 的實務理解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347472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後續自學的延伸方向地圖（RAG / Telegram / 多租戶）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397764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樂雲商用方案聯絡窗口（Basic / Advanced / Premium）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樂雲後續可協助的延伸服務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309360" y="19659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🛠️ PoC 30 天免費試用（更完整環境）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309360" y="2468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🏢 企業內訓客製化版本（含貴公司案例）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309360" y="29718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🤝 商用方案導入（Basic / Advanced / Premium）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309360" y="34747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☎️ 顧問諮詢服務（資安治理、雲端架構評估）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309360" y="3977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📚 與 Cloudflare 原廠聯合舉辦的進階課程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7200" y="5806440"/>
            <a:ext cx="11274552" cy="365760"/>
          </a:xfrm>
          <a:prstGeom prst="roundRect">
            <a:avLst>
              <a:gd name="adj" fmla="val 15000"/>
            </a:avLst>
          </a:prstGeom>
          <a:solidFill>
            <a:srgbClr val="F0F6FF"/>
          </a:solidFill>
          <a:ln/>
        </p:spPr>
      </p:sp>
      <p:sp>
        <p:nvSpPr>
          <p:cNvPr id="22" name="Shape 19"/>
          <p:cNvSpPr/>
          <p:nvPr/>
        </p:nvSpPr>
        <p:spPr>
          <a:xfrm>
            <a:off x="457200" y="5806440"/>
            <a:ext cx="54864" cy="36576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806440"/>
            <a:ext cx="11000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今天教的是「免費自建版本」，明天樂雲可以幫您升級成「商用治理版本」— 這就是樂雲的差異化價值。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LEYUN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聯繫樂雲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獲取免費諮詢與 30 天 PoC 試用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樂雲智能公司簡介 — Cloudflare AI Gateway 課程</dc:title>
  <dc:subject>PptxGenJS Presentation</dc:subject>
  <dc:creator>樂雲智能 LEYUN</dc:creator>
  <cp:lastModifiedBy>樂雲智能 LEYUN</cp:lastModifiedBy>
  <cp:revision>1</cp:revision>
  <dcterms:created xsi:type="dcterms:W3CDTF">2026-05-16T04:06:14Z</dcterms:created>
  <dcterms:modified xsi:type="dcterms:W3CDTF">2026-05-16T04:06:14Z</dcterms:modified>
</cp:coreProperties>
</file>