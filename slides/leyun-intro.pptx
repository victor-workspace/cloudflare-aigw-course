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YUN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YUN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74552" cy="27432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YUN_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3802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961120" y="0"/>
            <a:ext cx="3200400" cy="3657600"/>
          </a:xfrm>
          <a:prstGeom prst="rtTriangle">
            <a:avLst/>
          </a:prstGeom>
          <a:solidFill>
            <a:srgbClr val="F38020"/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9601200" y="5029200"/>
            <a:ext cx="2560320" cy="1828800"/>
          </a:xfrm>
          <a:prstGeom prst="rtTriangle">
            <a:avLst/>
          </a:prstGeom>
          <a:solidFill>
            <a:srgbClr val="F38020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3657600"/>
            <a:ext cx="548640" cy="548640"/>
          </a:xfrm>
          <a:prstGeom prst="diamond">
            <a:avLst/>
          </a:prstGeom>
          <a:solidFill>
            <a:srgbClr val="1E5BC6"/>
          </a:solidFill>
          <a:ln/>
        </p:spPr>
      </p:sp>
      <p:pic>
        <p:nvPicPr>
          <p:cNvPr id="5" name="Image 0" descr="/home/shark/workspace/obsidian-brain-victor/Resources/Presentation-Library/_templates/assets/leyu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37160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POWERED+ · ISO 27001 · AI GATEWAY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 LEYUN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公司簡介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5742432" cy="228600"/>
          </a:xfrm>
          <a:prstGeom prst="rect">
            <a:avLst/>
          </a:prstGeom>
          <a:solidFill>
            <a:srgbClr val="B8E6CE">
              <a:alpha val="7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 empower enterprises to do business globally without any risk.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講師: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Victor Lin · 解決方案事業部主管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課程: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AI Gateway 實戰 · 2 小時 Workshop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563E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資訊安全  |  雲端服務  |  AI 整合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SUCCESS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1430000" y="6446520"/>
            <a:ext cx="301752" cy="301752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0" y="64465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LEYUN</a:t>
            </a:r>
            <a:pPr indent="0" marL="0">
              <a:buNone/>
            </a:pPr>
            <a:r>
              <a:rPr lang="en-US" sz="22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樂雲是誰：台灣資安雲端整合的領航者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042416"/>
            <a:ext cx="4078224" cy="109728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從產品代理到解決方案 — 三層信任建構樂雲的差異化定位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 · 課程公司簡介 · 15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11274552" cy="147828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45920"/>
            <a:ext cx="502920" cy="147828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645920"/>
            <a:ext cx="502920" cy="147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1755648"/>
            <a:ext cx="8988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Powered+ 核心合作夥伴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3000" y="2103120"/>
            <a:ext cx="8988552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台灣唯一 Cloudflare Powered+ 認證夥伴，擁有原廠最高等級技術支援能力。從 WAF / DDoS 防護到 Zero Trust / AI Gateway，全產品線授權銷售與部署能量。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14432" y="199644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14432" y="2042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認證等級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14432" y="2270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Powered+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57200" y="3261360"/>
            <a:ext cx="11274552" cy="147828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261360"/>
            <a:ext cx="502920" cy="1478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261360"/>
            <a:ext cx="502920" cy="147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3371088"/>
            <a:ext cx="8988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ISO 27001 國際資安認證 + 履約保證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43000" y="3718560"/>
            <a:ext cx="8988552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通過 ISO/IEC 27001:2022 國際資訊安全管理系統認證，並完成金融機構履約保證簽署。第三方保障機制讓客戶安心託付關鍵業務。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314432" y="361188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14432" y="3657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保障層級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14432" y="3886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ISO+履約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457200" y="4876800"/>
            <a:ext cx="11274552" cy="147828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4876800"/>
            <a:ext cx="502920" cy="1478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876800"/>
            <a:ext cx="502920" cy="147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" y="4986528"/>
            <a:ext cx="8988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在地技術團隊 × 開源實作分享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43000" y="5334000"/>
            <a:ext cx="8988552" cy="929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本地專屬技術團隊全程中文溝通，無語言與時差困擾。樂雲長期投入開源教材與技術社群，本課程即為公開教材的一部分。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314432" y="522732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314432" y="5273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開放原始碼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314432" y="550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MATRIX</a:t>
            </a:r>
            <a:pPr indent="0" marL="0">
              <a:buNone/>
            </a:pPr>
            <a:r>
              <a:rPr lang="en-US" sz="20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樂雲產品矩陣 — 覆蓋資安、雲端、AI 全鏈路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042416"/>
            <a:ext cx="5102352" cy="109728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 Cloudflare 全球基礎建設到 AI 治理，提供企業級一站式整合方案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 · 課程公司簡介 · 15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2706624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08760"/>
            <a:ext cx="270662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50876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🌐  網站效能與防護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19456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CDN 全球加速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6060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WAF 應用防火牆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DDoS 攻擊防護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42900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Bot 機器人防制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API Shield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00984" y="1508760"/>
            <a:ext cx="2706624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00984" y="1508760"/>
            <a:ext cx="270662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3438144" y="150876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🛡️  Zero Trust 安全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83864" y="219456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ZTNA 無代理存取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83864" y="26060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SWG 網際網路過濾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83864" y="30175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RBI 瀏覽器隔離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483864" y="342900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DLP 資料防洩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83864" y="38404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身份驗證整合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44768" y="1508760"/>
            <a:ext cx="2706624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44768" y="1508760"/>
            <a:ext cx="270662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281928" y="150876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🤖  AI 整合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27648" y="219456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AI Gateway 51 模型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27648" y="26060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Workers AI 邊緣推論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27648" y="30175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Vectorize 向量檢索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27648" y="342900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AI Search 語義搜尋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27648" y="38404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Guardrails 防護欄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988552" y="1508760"/>
            <a:ext cx="2706624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88552" y="1508760"/>
            <a:ext cx="270662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2"/>
          <p:cNvSpPr/>
          <p:nvPr/>
        </p:nvSpPr>
        <p:spPr>
          <a:xfrm>
            <a:off x="9125712" y="150876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🏢  企業骨幹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171432" y="219456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Magic WAN SD-WAN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171432" y="26060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Cloudflare Tunnel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171432" y="301752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Email Security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171432" y="342900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Workers / Pages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171432" y="38404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D1 / KV / R2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LEYUN BY THE NUMBERS</a:t>
            </a:r>
            <a:pPr indent="0" marL="0">
              <a:buNone/>
            </a:pPr>
            <a:r>
              <a:rPr lang="en-US" sz="20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樂雲現況指標（2026 Q2）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042416"/>
            <a:ext cx="4846320" cy="109728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不只是代理商 — 解決方案與服務能力雙軌成長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 · 課程公司簡介 · 15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2695194" cy="3840480"/>
          </a:xfrm>
          <a:prstGeom prst="roundRect">
            <a:avLst>
              <a:gd name="adj" fmla="val 3393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91640"/>
            <a:ext cx="2695194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4+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57200" y="3950208"/>
            <a:ext cx="269519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服務涵蓋產業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6986" y="1645920"/>
            <a:ext cx="2695194" cy="3840480"/>
          </a:xfrm>
          <a:prstGeom prst="roundRect">
            <a:avLst>
              <a:gd name="adj" fmla="val 3393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6986" y="1691640"/>
            <a:ext cx="2695194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51+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316986" y="3950208"/>
            <a:ext cx="269519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 LLM 模型數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6772" y="1645920"/>
            <a:ext cx="2695194" cy="3840480"/>
          </a:xfrm>
          <a:prstGeom prst="roundRect">
            <a:avLst>
              <a:gd name="adj" fmla="val 3393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6772" y="1691640"/>
            <a:ext cx="2695194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300+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176772" y="3950208"/>
            <a:ext cx="269519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Cloudflare 全球 PoP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36558" y="1645920"/>
            <a:ext cx="2695194" cy="3840480"/>
          </a:xfrm>
          <a:prstGeom prst="roundRect">
            <a:avLst>
              <a:gd name="adj" fmla="val 3393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36558" y="1691640"/>
            <a:ext cx="2695194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地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9036558" y="3950208"/>
            <a:ext cx="269519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海外 24/7 覆蓋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559612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製造、旅遊、物流、媒體娛樂多產業整合經驗 · AI Gateway 統一治理 51+ LLM 模型 · 台灣使用者延遲 &lt;5ms · 台灣白班 + 海外夜班不間斷技術支援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CLOUDFLARE AI GATEWAY</a:t>
            </a:r>
            <a:pPr indent="0" marL="0">
              <a:buNone/>
            </a:pPr>
            <a:r>
              <a:rPr lang="en-US" sz="20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為什麼樂雲選擇 Cloudflare AI Gateway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042416"/>
            <a:ext cx="7278624" cy="109728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同類產品比較 — Cloudflare 在 Edge / Governance / Open Ecosystem 三軸領先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 · 課程公司簡介 · 15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3660648" cy="416052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45920"/>
            <a:ext cx="3660648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83080"/>
            <a:ext cx="3660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94360" y="2240280"/>
            <a:ext cx="3386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 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" y="2606040"/>
            <a:ext cx="3386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Edge Computing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2944368"/>
            <a:ext cx="3386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300+ 全球 PoP，最近節點處理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3364992"/>
            <a:ext cx="3112008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47472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台灣使用者延遲 &lt;5ms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88620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無需自建 GPU 基礎建設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29768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與 Workers / D1 / KV 原生整合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470916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無 Cold Start 顧慮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212080"/>
            <a:ext cx="329488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212080"/>
            <a:ext cx="3294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5486400"/>
            <a:ext cx="3294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台灣平均延遲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264152" y="1645920"/>
            <a:ext cx="3660648" cy="4160520"/>
          </a:xfrm>
          <a:prstGeom prst="rect">
            <a:avLst/>
          </a:prstGeom>
          <a:solidFill>
            <a:srgbClr val="FFF8F2"/>
          </a:solidFill>
          <a:ln w="12700">
            <a:solidFill>
              <a:srgbClr val="F3802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64152" y="1645920"/>
            <a:ext cx="3660648" cy="64008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25" name="Text 22"/>
          <p:cNvSpPr/>
          <p:nvPr/>
        </p:nvSpPr>
        <p:spPr>
          <a:xfrm>
            <a:off x="4264152" y="1783080"/>
            <a:ext cx="3660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🛡️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401312" y="2240280"/>
            <a:ext cx="3386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 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401312" y="2606040"/>
            <a:ext cx="3386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統一治理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401312" y="2944368"/>
            <a:ext cx="3386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BYOK + Policy + Guardrails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38472" y="3364992"/>
            <a:ext cx="3112008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7"/>
          <p:cNvSpPr/>
          <p:nvPr/>
        </p:nvSpPr>
        <p:spPr>
          <a:xfrm>
            <a:off x="4447032" y="347472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51+ LLM 模型統一入口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447032" y="388620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API Key 由 Gateway 後端保管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447032" y="429768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Policy Engine 部門/職級控管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447032" y="470916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Guardrails 自動偵測 PII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447032" y="5212080"/>
            <a:ext cx="3294888" cy="50292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35" name="Text 32"/>
          <p:cNvSpPr/>
          <p:nvPr/>
        </p:nvSpPr>
        <p:spPr>
          <a:xfrm>
            <a:off x="4447032" y="5212080"/>
            <a:ext cx="3294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51+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447032" y="5486400"/>
            <a:ext cx="3294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可管理模型數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180076" y="1508760"/>
            <a:ext cx="1828800" cy="27432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38" name="Text 35"/>
          <p:cNvSpPr/>
          <p:nvPr/>
        </p:nvSpPr>
        <p:spPr>
          <a:xfrm>
            <a:off x="5180076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建議方案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071104" y="1645920"/>
            <a:ext cx="3660648" cy="416052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71104" y="1645920"/>
            <a:ext cx="3660648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8"/>
          <p:cNvSpPr/>
          <p:nvPr/>
        </p:nvSpPr>
        <p:spPr>
          <a:xfrm>
            <a:off x="8071104" y="1783080"/>
            <a:ext cx="3660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🌐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8208264" y="2240280"/>
            <a:ext cx="3386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 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208264" y="2606040"/>
            <a:ext cx="3386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Open Ecosystem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208264" y="2944368"/>
            <a:ext cx="3386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標準協議 + 多家 provider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345424" y="3364992"/>
            <a:ext cx="3112008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3"/>
          <p:cNvSpPr/>
          <p:nvPr/>
        </p:nvSpPr>
        <p:spPr>
          <a:xfrm>
            <a:off x="8253984" y="347472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MCP 標準工具呼叫協議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253984" y="388620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相容 OpenAI / Anthropic / Google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253984" y="429768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Workers AI 邊緣推論一併使用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253984" y="4709160"/>
            <a:ext cx="3294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▸  完整官方文件 + 教學範例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253984" y="5212080"/>
            <a:ext cx="329488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Text 48"/>
          <p:cNvSpPr/>
          <p:nvPr/>
        </p:nvSpPr>
        <p:spPr>
          <a:xfrm>
            <a:off x="8253984" y="5212080"/>
            <a:ext cx="3294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253984" y="5486400"/>
            <a:ext cx="3294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開放協議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57200" y="5916168"/>
            <a:ext cx="11274552" cy="347472"/>
          </a:xfrm>
          <a:prstGeom prst="roundRect">
            <a:avLst>
              <a:gd name="adj" fmla="val 15789"/>
            </a:avLst>
          </a:prstGeom>
          <a:solidFill>
            <a:srgbClr val="F0F6FF"/>
          </a:solidFill>
          <a:ln/>
        </p:spPr>
      </p:sp>
      <p:sp>
        <p:nvSpPr>
          <p:cNvPr id="54" name="Shape 51"/>
          <p:cNvSpPr/>
          <p:nvPr/>
        </p:nvSpPr>
        <p:spPr>
          <a:xfrm>
            <a:off x="457200" y="5916168"/>
            <a:ext cx="54864" cy="347472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55" name="Text 52"/>
          <p:cNvSpPr/>
          <p:nvPr/>
        </p:nvSpPr>
        <p:spPr>
          <a:xfrm>
            <a:off x="640080" y="5916168"/>
            <a:ext cx="11000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⚡ 對企業而言，AI Gateway 的價值不只在便宜，更在「可治理、可稽核、可預測成本」— 這正是樂雲解決方案的核心訴求。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× BUSINESS MODEL</a:t>
            </a:r>
            <a:pPr indent="0" marL="0">
              <a:buNone/>
            </a:pPr>
            <a:r>
              <a:rPr lang="en-US" sz="20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 AI Gateway 的技術定位與商業模式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042416"/>
            <a:ext cx="6126480" cy="109728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理解「為什麼這個技術可以變成可持續服務」— Cloud Native 時代的 B2B 軟體商業邏輯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 · 課程公司簡介 · 15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AFB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91640"/>
            <a:ext cx="54864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6916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🛠  技術角度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242316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377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Edge Native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2670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Worker + AI Gateway 在 300+ PoP 同步部署，無 cold start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13639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090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Stateless Gateway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BYOK + Policy 集中設定，Worker 端零 secret 滲漏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384962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849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38039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Multi-Provider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05840" y="4096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 URL 路徑切換 51+ LLM，模型選擇與商業耦合解開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456285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45171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Open Protocol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05840" y="48097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MCP 標準化工具呼叫，agent 可跨廠商組合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080" y="527608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5276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" y="52303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Observability First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05840" y="55229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 inference 預設記錄 token / latency / cost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45352" y="16916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AFBFC"/>
          </a:solidFill>
          <a:ln w="19050">
            <a:solidFill>
              <a:srgbClr val="F3802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45352" y="1691640"/>
            <a:ext cx="5486400" cy="54864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34" name="Text 31"/>
          <p:cNvSpPr/>
          <p:nvPr/>
        </p:nvSpPr>
        <p:spPr>
          <a:xfrm>
            <a:off x="6428232" y="16916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💼  商業模式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28232" y="2423160"/>
            <a:ext cx="292608" cy="29260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6" name="Text 33"/>
          <p:cNvSpPr/>
          <p:nvPr/>
        </p:nvSpPr>
        <p:spPr>
          <a:xfrm>
            <a:off x="6428232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793992" y="2377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Usage-Based Pricing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793992" y="2670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token 量計費，客戶 CAPEX → OPEX 轉換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428232" y="3136392"/>
            <a:ext cx="292608" cy="29260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0" name="Text 37"/>
          <p:cNvSpPr/>
          <p:nvPr/>
        </p:nvSpPr>
        <p:spPr>
          <a:xfrm>
            <a:off x="6428232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793992" y="3090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Land &amp; Expand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793992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Gateway 為入口，後續擴展 ZTNA / SOC / MSSP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28232" y="3849624"/>
            <a:ext cx="292608" cy="29260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4" name="Text 41"/>
          <p:cNvSpPr/>
          <p:nvPr/>
        </p:nvSpPr>
        <p:spPr>
          <a:xfrm>
            <a:off x="6428232" y="3849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793992" y="38039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MSSP / ARR 模型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793992" y="4096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月費訂閱 + 託管監控，建立可預測現金流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428232" y="4562856"/>
            <a:ext cx="292608" cy="29260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8" name="Text 45"/>
          <p:cNvSpPr/>
          <p:nvPr/>
        </p:nvSpPr>
        <p:spPr>
          <a:xfrm>
            <a:off x="6428232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793992" y="45171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Marketplace Ecosystem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793992" y="48097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 一級夥伴生態，享受技術更新紅利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428232" y="5276088"/>
            <a:ext cx="292608" cy="29260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52" name="Text 49"/>
          <p:cNvSpPr/>
          <p:nvPr/>
        </p:nvSpPr>
        <p:spPr>
          <a:xfrm>
            <a:off x="6428232" y="5276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793992" y="52303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Cross-sell 漏斗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793992" y="55229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 AI 治理切入 → 帶出整體資安解決方案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hark/workspace/obsidian-brain-victor/Resources/Presentation-Library/_templates/assets/leyun-logo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460236"/>
            <a:ext cx="1042416" cy="3566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4" name="Text 1"/>
          <p:cNvSpPr/>
          <p:nvPr/>
        </p:nvSpPr>
        <p:spPr>
          <a:xfrm>
            <a:off x="11558016" y="6460236"/>
            <a:ext cx="5394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TAKE HOME</a:t>
            </a:r>
            <a:pPr indent="0" marL="0">
              <a:buNone/>
            </a:pPr>
            <a:r>
              <a:rPr lang="en-US" sz="2000" b="1" dirty="0">
                <a:solidFill>
                  <a:srgbClr val="B0B0B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| 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碩士生視角：這堂課你會帶走什麼？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042416"/>
            <a:ext cx="4718304" cy="109728"/>
          </a:xfrm>
          <a:prstGeom prst="rect">
            <a:avLst/>
          </a:prstGeom>
          <a:solidFill>
            <a:srgbClr val="B8E6CE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2529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C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一個能跑的開源骨架 + 一套可遷移到任何雲平台的設計概念 + 後續可深入的研究地圖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 · 課程公司簡介 · 15 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🎓  可帶走的技能與資產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2402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完整可跑的 Cloudflare Worker 程式碼骨架（MIT 授權）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部署到自己 CF 帳號的 AI Gateway 實作經驗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2461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對 BYOK / Policy / Guardrails 的實務理解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7490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邊緣運算 × 多模型 routing 的系統設計思維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2519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MCP 協議與 agentic loop 的程式碼級理解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🔬  延伸可探索的研究方向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240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🧠 LLM Routing：依語意分流到不同 model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⚡ Cost-aware Caching：精準命中 vs 模糊命中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3246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🛡️ Guardrail 評估：誤判率 / 漏報率分析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🔁 Agentic Loop 安全性：tool injection 防護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📊 多租戶治理：邊緣端 policy enforcement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5989320"/>
            <a:ext cx="11274552" cy="347472"/>
          </a:xfrm>
          <a:prstGeom prst="roundRect">
            <a:avLst>
              <a:gd name="adj" fmla="val 15789"/>
            </a:avLst>
          </a:prstGeom>
          <a:solidFill>
            <a:srgbClr val="F0F6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5989320"/>
            <a:ext cx="54864" cy="347472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989320"/>
            <a:ext cx="11000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本課程的程式碼骨架可作為碩士論文 / 期末專題的起點 — 你可以基於它探索 LLM 系統研究、邊緣 AI 架構或多 agent 協作議題。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LEYUN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聯繫樂雲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技術交流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+886-2-77220055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www.leyun.cloud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victor@leyun.cloud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樂雲智能股份有限公司 · LEYUN Intelligence Co., Ltd.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91440" cy="1828800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01168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Repo 持續開放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歡迎延伸研究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57800" y="391363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本課程講師 Victor Lin · 企業客戶解決方案事業部主管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4617720"/>
            <a:ext cx="64008" cy="384048"/>
          </a:xfrm>
          <a:prstGeom prst="rect">
            <a:avLst/>
          </a:prstGeom>
          <a:solidFill>
            <a:srgbClr val="F38020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461772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 STEP — 課後問題、PR 貢獻或研究議題討論皆歡迎來信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5074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github.com/victor80122/cloudflare-aigw-course · MIT License · 任意衍生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樂雲智能公司簡介 — Cloudflare AI Gateway 課程</dc:title>
  <dc:subject>PptxGenJS Presentation</dc:subject>
  <dc:creator>樂雲智能 LEYUN</dc:creator>
  <cp:lastModifiedBy>樂雲智能 LEYUN</cp:lastModifiedBy>
  <cp:revision>1</cp:revision>
  <dcterms:created xsi:type="dcterms:W3CDTF">2026-05-18T08:18:43Z</dcterms:created>
  <dcterms:modified xsi:type="dcterms:W3CDTF">2026-05-18T08:18:43Z</dcterms:modified>
</cp:coreProperties>
</file>