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YUN_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YUN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419088"/>
            <a:ext cx="11274552" cy="27432"/>
          </a:xfrm>
          <a:prstGeom prst="rect">
            <a:avLst/>
          </a:prstGeom>
          <a:solidFill>
            <a:srgbClr val="E5E7EB"/>
          </a:solidFill>
          <a:ln/>
        </p:spPr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YUN_CLOSING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F38020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>
            <a:off x="8961120" y="0"/>
            <a:ext cx="3200400" cy="3657600"/>
          </a:xfrm>
          <a:prstGeom prst="rtTriangle">
            <a:avLst/>
          </a:prstGeom>
          <a:solidFill>
            <a:srgbClr val="F38020"/>
          </a:solidFill>
          <a:ln/>
        </p:spPr>
      </p:sp>
      <p:sp>
        <p:nvSpPr>
          <p:cNvPr id="3" name="Shape 1"/>
          <p:cNvSpPr/>
          <p:nvPr/>
        </p:nvSpPr>
        <p:spPr>
          <a:xfrm flipH="1" flipV="1">
            <a:off x="9601200" y="5029200"/>
            <a:ext cx="2560320" cy="1828800"/>
          </a:xfrm>
          <a:prstGeom prst="rtTriangle">
            <a:avLst/>
          </a:prstGeom>
          <a:solidFill>
            <a:srgbClr val="F38020"/>
          </a:solidFill>
          <a:ln/>
        </p:spPr>
      </p:sp>
      <p:sp>
        <p:nvSpPr>
          <p:cNvPr id="4" name="Shape 2"/>
          <p:cNvSpPr/>
          <p:nvPr/>
        </p:nvSpPr>
        <p:spPr>
          <a:xfrm>
            <a:off x="11247120" y="3657600"/>
            <a:ext cx="548640" cy="548640"/>
          </a:xfrm>
          <a:prstGeom prst="diamond">
            <a:avLst/>
          </a:prstGeom>
          <a:solidFill>
            <a:srgbClr val="1E5BC6"/>
          </a:solidFill>
          <a:ln/>
        </p:spPr>
      </p:sp>
      <p:pic>
        <p:nvPicPr>
          <p:cNvPr id="5" name="Image 0" descr="/home/shark/workspace/obsidian-brain-victor/Resources/Presentation-Library/_templates/assets/leyun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57200"/>
            <a:ext cx="1371600" cy="4389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1371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CLOUDFLARE POWERED+ · ISO 27001 · AI GATEWAY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1783080"/>
            <a:ext cx="82296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38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樂雲智能 LEYUN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38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公司簡介</a:t>
            </a:r>
            <a:endParaRPr lang="en-US" sz="4400" dirty="0"/>
          </a:p>
        </p:txBody>
      </p:sp>
      <p:sp>
        <p:nvSpPr>
          <p:cNvPr id="8" name="Shape 5"/>
          <p:cNvSpPr/>
          <p:nvPr/>
        </p:nvSpPr>
        <p:spPr>
          <a:xfrm>
            <a:off x="548640" y="3566160"/>
            <a:ext cx="5742432" cy="228600"/>
          </a:xfrm>
          <a:prstGeom prst="rect">
            <a:avLst/>
          </a:prstGeom>
          <a:solidFill>
            <a:srgbClr val="B8E6CE">
              <a:alpha val="75000"/>
            </a:srgbClr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3931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To empower enterprises to do business globally without any risk.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4864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講師: </a:t>
            </a:r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Victor Lin · 解決方案事業部主管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4864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課程: </a:t>
            </a:r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AI Gateway 實戰 · 2 小時 Workshop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48640" y="58521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2563E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資訊安全  |  雲端服務  |  AI 整合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548640" y="62636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YOUR SUCCESS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11430000" y="6446520"/>
            <a:ext cx="301752" cy="301752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15" name="Text 12"/>
          <p:cNvSpPr/>
          <p:nvPr/>
        </p:nvSpPr>
        <p:spPr>
          <a:xfrm>
            <a:off x="11430000" y="6446520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" name="Text 1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38404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LEYUN</a:t>
            </a:r>
            <a:pPr indent="0" marL="0">
              <a:buNone/>
            </a:pPr>
            <a:r>
              <a:rPr lang="en-US" sz="2600" b="1" dirty="0">
                <a:solidFill>
                  <a:srgbClr val="B0B0B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 |  </a:t>
            </a:r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樂雲是誰：台灣資安雲端整合的領航者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886968"/>
            <a:ext cx="4608576" cy="137160"/>
          </a:xfrm>
          <a:prstGeom prst="rect">
            <a:avLst/>
          </a:prstGeom>
          <a:solidFill>
            <a:srgbClr val="B8E6CE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109728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5BC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從產品代理到解決方案 — 三層信任建構樂雲的差異化定位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649224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樂雲智能 · 課程公司簡介 · 15 min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572768"/>
            <a:ext cx="11274552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572768"/>
            <a:ext cx="502920" cy="1600200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11" name="Text 8"/>
          <p:cNvSpPr/>
          <p:nvPr/>
        </p:nvSpPr>
        <p:spPr>
          <a:xfrm>
            <a:off x="457200" y="1572768"/>
            <a:ext cx="50292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01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43000" y="1682496"/>
            <a:ext cx="8988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Powered+ 核心合作夥伴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143000" y="2029968"/>
            <a:ext cx="89885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台灣唯一 Cloudflare Powered+ 認證夥伴，擁有原廠最高等級技術支援能力。從 WAF / DDoS 防護到 Zero Trust / AI Gateway，全產品線授權銷售與部署能量。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10314432" y="1984248"/>
            <a:ext cx="1280160" cy="777240"/>
          </a:xfrm>
          <a:prstGeom prst="roundRect">
            <a:avLst>
              <a:gd name="adj" fmla="val 5882"/>
            </a:avLst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314432" y="2029968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認證等級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10314432" y="2258568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8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Powered+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457200" y="3310128"/>
            <a:ext cx="11274552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57200" y="3310128"/>
            <a:ext cx="502920" cy="16002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9" name="Text 16"/>
          <p:cNvSpPr/>
          <p:nvPr/>
        </p:nvSpPr>
        <p:spPr>
          <a:xfrm>
            <a:off x="457200" y="3310128"/>
            <a:ext cx="50292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02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43000" y="3419856"/>
            <a:ext cx="8988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ISO 27001 國際資安認證 + 履約保證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1143000" y="3767328"/>
            <a:ext cx="89885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通過 ISO/IEC 27001:2022 國際資訊安全管理系統認證，並完成金融機構履約保證簽署。第三方保障機制讓客戶安心託付關鍵業務。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10314432" y="3721608"/>
            <a:ext cx="1280160" cy="777240"/>
          </a:xfrm>
          <a:prstGeom prst="roundRect">
            <a:avLst>
              <a:gd name="adj" fmla="val 5882"/>
            </a:avLst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0314432" y="3767328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保障層級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0314432" y="3995928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0B98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ISO+履約</a:t>
            </a:r>
            <a:endParaRPr lang="en-US" sz="2000" dirty="0"/>
          </a:p>
        </p:txBody>
      </p:sp>
      <p:sp>
        <p:nvSpPr>
          <p:cNvPr id="25" name="Shape 22"/>
          <p:cNvSpPr/>
          <p:nvPr/>
        </p:nvSpPr>
        <p:spPr>
          <a:xfrm>
            <a:off x="457200" y="5047488"/>
            <a:ext cx="11274552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57200" y="5047488"/>
            <a:ext cx="502920" cy="1600200"/>
          </a:xfrm>
          <a:prstGeom prst="rect">
            <a:avLst/>
          </a:prstGeom>
          <a:solidFill>
            <a:srgbClr val="1E5BC6"/>
          </a:solidFill>
          <a:ln/>
        </p:spPr>
      </p:sp>
      <p:sp>
        <p:nvSpPr>
          <p:cNvPr id="27" name="Text 24"/>
          <p:cNvSpPr/>
          <p:nvPr/>
        </p:nvSpPr>
        <p:spPr>
          <a:xfrm>
            <a:off x="457200" y="5047488"/>
            <a:ext cx="50292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03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1143000" y="5157216"/>
            <a:ext cx="8988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台灣在地顧問團隊 × PoC 免費試用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1143000" y="5504688"/>
            <a:ext cx="89885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本地專屬顧問全程中文溝通，無語言與時差困擾。提供 30 天 PoC 免費試用，讓企業先驗證再採購，降低決策風險。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10314432" y="5458968"/>
            <a:ext cx="1280160" cy="777240"/>
          </a:xfrm>
          <a:prstGeom prst="roundRect">
            <a:avLst>
              <a:gd name="adj" fmla="val 5882"/>
            </a:avLst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10314432" y="5504688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PoC 期間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10314432" y="5733288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5BC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30 天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" name="Text 1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38404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MATRIX</a:t>
            </a:r>
            <a:pPr indent="0" marL="0">
              <a:buNone/>
            </a:pPr>
            <a:r>
              <a:rPr lang="en-US" sz="2600" b="1" dirty="0">
                <a:solidFill>
                  <a:srgbClr val="B0B0B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 |  </a:t>
            </a:r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樂雲產品矩陣 — 覆蓋資安、雲端、AI 全鏈路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886968"/>
            <a:ext cx="5779008" cy="137160"/>
          </a:xfrm>
          <a:prstGeom prst="rect">
            <a:avLst/>
          </a:prstGeom>
          <a:solidFill>
            <a:srgbClr val="B8E6CE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109728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5BC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 Cloudflare 全球基礎建設到 AI 治理，提供企業級一站式整合方案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649224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樂雲智能 · 課程公司簡介 · 15 min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508760"/>
            <a:ext cx="2706624" cy="402336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508760"/>
            <a:ext cx="2706624" cy="5486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1" name="Text 8"/>
          <p:cNvSpPr/>
          <p:nvPr/>
        </p:nvSpPr>
        <p:spPr>
          <a:xfrm>
            <a:off x="594360" y="1508760"/>
            <a:ext cx="24323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🌐  網站效能與防護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40080" y="219456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CDN 全球加速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260604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WAF 應用防火牆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40080" y="301752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DDoS 攻擊防護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40080" y="342900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Bot 機器人防制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40080" y="384048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API Shield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3300984" y="1508760"/>
            <a:ext cx="2706624" cy="402336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300984" y="1508760"/>
            <a:ext cx="2706624" cy="5486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9" name="Text 16"/>
          <p:cNvSpPr/>
          <p:nvPr/>
        </p:nvSpPr>
        <p:spPr>
          <a:xfrm>
            <a:off x="3438144" y="1508760"/>
            <a:ext cx="24323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🛡️  Zero Trust 安全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3483864" y="219456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ZTNA 無代理存取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483864" y="260604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SWG 網際網路過濾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3483864" y="301752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RBI 瀏覽器隔離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483864" y="342900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DLP 資料防洩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3483864" y="384048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身份驗證整合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144768" y="1508760"/>
            <a:ext cx="2706624" cy="402336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144768" y="1508760"/>
            <a:ext cx="2706624" cy="5486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7" name="Text 24"/>
          <p:cNvSpPr/>
          <p:nvPr/>
        </p:nvSpPr>
        <p:spPr>
          <a:xfrm>
            <a:off x="6281928" y="1508760"/>
            <a:ext cx="24323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🤖  AI 整合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6327648" y="219456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AI Gateway 51 模型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6327648" y="260604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Workers AI 邊緣推論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6327648" y="301752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Vectorize 向量檢索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6327648" y="342900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AI Search 語義搜尋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6327648" y="384048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Guardrails 防護欄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8988552" y="1508760"/>
            <a:ext cx="2706624" cy="402336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8988552" y="1508760"/>
            <a:ext cx="2706624" cy="5486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5" name="Text 32"/>
          <p:cNvSpPr/>
          <p:nvPr/>
        </p:nvSpPr>
        <p:spPr>
          <a:xfrm>
            <a:off x="9125712" y="1508760"/>
            <a:ext cx="24323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🏢  企業骨幹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9171432" y="219456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Magic WAN SD-WAN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9171432" y="260604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Cloudflare Tunnel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9171432" y="301752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Email Security</a:t>
            </a:r>
            <a:endParaRPr lang="en-US" sz="1200" dirty="0"/>
          </a:p>
        </p:txBody>
      </p:sp>
      <p:sp>
        <p:nvSpPr>
          <p:cNvPr id="39" name="Text 36"/>
          <p:cNvSpPr/>
          <p:nvPr/>
        </p:nvSpPr>
        <p:spPr>
          <a:xfrm>
            <a:off x="9171432" y="342900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Workers / Pages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9171432" y="384048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D1 / KV / R2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" name="Text 1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38404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LEYUN BY THE NUMBERS</a:t>
            </a:r>
            <a:pPr indent="0" marL="0">
              <a:buNone/>
            </a:pPr>
            <a:r>
              <a:rPr lang="en-US" sz="2600" b="1" dirty="0">
                <a:solidFill>
                  <a:srgbClr val="B0B0B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 |  </a:t>
            </a:r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樂雲現況指標（2026 Q2）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886968"/>
            <a:ext cx="5486400" cy="137160"/>
          </a:xfrm>
          <a:prstGeom prst="rect">
            <a:avLst/>
          </a:prstGeom>
          <a:solidFill>
            <a:srgbClr val="B8E6CE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109728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5BC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不只是代理商 — 解決方案與服務能力雙軌成長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649224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樂雲智能 · 課程公司簡介 · 15 min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572768"/>
            <a:ext cx="2695194" cy="3840480"/>
          </a:xfrm>
          <a:prstGeom prst="roundRect">
            <a:avLst>
              <a:gd name="adj" fmla="val 3393"/>
            </a:avLst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57200" y="1618488"/>
            <a:ext cx="2695194" cy="2112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38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4+</a:t>
            </a:r>
            <a:endParaRPr lang="en-US" sz="3800" dirty="0"/>
          </a:p>
        </p:txBody>
      </p:sp>
      <p:sp>
        <p:nvSpPr>
          <p:cNvPr id="11" name="Text 8"/>
          <p:cNvSpPr/>
          <p:nvPr/>
        </p:nvSpPr>
        <p:spPr>
          <a:xfrm>
            <a:off x="457200" y="3877056"/>
            <a:ext cx="2695194" cy="1344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服務涵蓋產業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316986" y="1572768"/>
            <a:ext cx="2695194" cy="3840480"/>
          </a:xfrm>
          <a:prstGeom prst="roundRect">
            <a:avLst>
              <a:gd name="adj" fmla="val 3393"/>
            </a:avLst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316986" y="1618488"/>
            <a:ext cx="2695194" cy="2112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0B98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51+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3316986" y="3877056"/>
            <a:ext cx="2695194" cy="1344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管理 LLM 模型數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176772" y="1572768"/>
            <a:ext cx="2695194" cy="3840480"/>
          </a:xfrm>
          <a:prstGeom prst="roundRect">
            <a:avLst>
              <a:gd name="adj" fmla="val 3393"/>
            </a:avLst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176772" y="1618488"/>
            <a:ext cx="2695194" cy="2112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E5BC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300+</a:t>
            </a:r>
            <a:endParaRPr lang="en-US" sz="3800" dirty="0"/>
          </a:p>
        </p:txBody>
      </p:sp>
      <p:sp>
        <p:nvSpPr>
          <p:cNvPr id="17" name="Text 14"/>
          <p:cNvSpPr/>
          <p:nvPr/>
        </p:nvSpPr>
        <p:spPr>
          <a:xfrm>
            <a:off x="6176772" y="3877056"/>
            <a:ext cx="2695194" cy="1344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全球 PoP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9036558" y="1572768"/>
            <a:ext cx="2695194" cy="3840480"/>
          </a:xfrm>
          <a:prstGeom prst="roundRect">
            <a:avLst>
              <a:gd name="adj" fmla="val 3393"/>
            </a:avLst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036558" y="1618488"/>
            <a:ext cx="2695194" cy="2112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8B5CF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 地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9036558" y="3877056"/>
            <a:ext cx="2695194" cy="1344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海外 24/7 覆蓋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457200" y="5522976"/>
            <a:ext cx="112745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製造、旅遊、物流、媒體娛樂多產業整合經驗 · AI Gateway 統一治理 51+ LLM 模型 · 台灣使用者延遲 &lt;5ms · 台灣白班 + 海外夜班不間斷技術支援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" name="Text 1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38404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CLOUDFLARE AI GATEWAY</a:t>
            </a:r>
            <a:pPr indent="0" marL="0">
              <a:buNone/>
            </a:pPr>
            <a:r>
              <a:rPr lang="en-US" sz="2600" b="1" dirty="0">
                <a:solidFill>
                  <a:srgbClr val="B0B0B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 |  </a:t>
            </a:r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為什麼樂雲選擇 Cloudflare AI Gateway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886968"/>
            <a:ext cx="8266176" cy="137160"/>
          </a:xfrm>
          <a:prstGeom prst="rect">
            <a:avLst/>
          </a:prstGeom>
          <a:solidFill>
            <a:srgbClr val="B8E6CE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109728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5BC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同類產品比較 — Cloudflare 在 Edge / Governance / TCO 三軸領先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649224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樂雲智能 · 課程公司簡介 · 15 min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508760"/>
            <a:ext cx="3660648" cy="4617720"/>
          </a:xfrm>
          <a:prstGeom prst="rect">
            <a:avLst/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508760"/>
            <a:ext cx="3660648" cy="6400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1" name="Text 8"/>
          <p:cNvSpPr/>
          <p:nvPr/>
        </p:nvSpPr>
        <p:spPr>
          <a:xfrm>
            <a:off x="457200" y="1645920"/>
            <a:ext cx="3660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⚡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594360" y="2103120"/>
            <a:ext cx="33863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優勢 1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594360" y="2468880"/>
            <a:ext cx="33863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Edge Computing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94360" y="2807208"/>
            <a:ext cx="33863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300+ 全球 PoP，最近節點處理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731520" y="3227832"/>
            <a:ext cx="3112008" cy="27432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16" name="Text 13"/>
          <p:cNvSpPr/>
          <p:nvPr/>
        </p:nvSpPr>
        <p:spPr>
          <a:xfrm>
            <a:off x="640080" y="3337560"/>
            <a:ext cx="3294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台灣使用者延遲 &lt;5ms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40080" y="3840480"/>
            <a:ext cx="3294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無需自建 GPU 基礎建設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40080" y="4343400"/>
            <a:ext cx="3294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Anycast 自動路由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40080" y="4846320"/>
            <a:ext cx="3294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與 Workers / D1 / KV 原生整合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" y="5349240"/>
            <a:ext cx="3294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無 Cold Start 顧慮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40080" y="5349240"/>
            <a:ext cx="3294888" cy="65836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2" name="Text 19"/>
          <p:cNvSpPr/>
          <p:nvPr/>
        </p:nvSpPr>
        <p:spPr>
          <a:xfrm>
            <a:off x="640080" y="5349240"/>
            <a:ext cx="32948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&lt;5ms</a:t>
            </a:r>
            <a:endParaRPr lang="en-US" sz="1800" dirty="0"/>
          </a:p>
        </p:txBody>
      </p:sp>
      <p:sp>
        <p:nvSpPr>
          <p:cNvPr id="23" name="Text 20"/>
          <p:cNvSpPr/>
          <p:nvPr/>
        </p:nvSpPr>
        <p:spPr>
          <a:xfrm>
            <a:off x="640080" y="5715000"/>
            <a:ext cx="32948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台灣平均延遲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4264152" y="1508760"/>
            <a:ext cx="3660648" cy="4617720"/>
          </a:xfrm>
          <a:prstGeom prst="rect">
            <a:avLst/>
          </a:prstGeom>
          <a:solidFill>
            <a:srgbClr val="FFF8F2"/>
          </a:solidFill>
          <a:ln w="12700">
            <a:solidFill>
              <a:srgbClr val="F3802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264152" y="1508760"/>
            <a:ext cx="3660648" cy="64008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26" name="Text 23"/>
          <p:cNvSpPr/>
          <p:nvPr/>
        </p:nvSpPr>
        <p:spPr>
          <a:xfrm>
            <a:off x="4264152" y="1645920"/>
            <a:ext cx="3660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🛡️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4401312" y="2103120"/>
            <a:ext cx="33863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優勢 2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4401312" y="2468880"/>
            <a:ext cx="33863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統一治理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4401312" y="2807208"/>
            <a:ext cx="33863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BYOK + Policy + Guardrails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538472" y="3227832"/>
            <a:ext cx="3112008" cy="27432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31" name="Text 28"/>
          <p:cNvSpPr/>
          <p:nvPr/>
        </p:nvSpPr>
        <p:spPr>
          <a:xfrm>
            <a:off x="4447032" y="3337560"/>
            <a:ext cx="3294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51+ LLM 模型統一入口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4447032" y="3840480"/>
            <a:ext cx="3294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API Key 由 Gateway 後端保管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4447032" y="4343400"/>
            <a:ext cx="3294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Policy Engine 部門/職級控管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4447032" y="4846320"/>
            <a:ext cx="3294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Guardrails 自動偵測 PII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4447032" y="5349240"/>
            <a:ext cx="3294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完整 Logs / Analytics 儀表板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447032" y="5349240"/>
            <a:ext cx="3294888" cy="658368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37" name="Text 34"/>
          <p:cNvSpPr/>
          <p:nvPr/>
        </p:nvSpPr>
        <p:spPr>
          <a:xfrm>
            <a:off x="4447032" y="5349240"/>
            <a:ext cx="32948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51+</a:t>
            </a:r>
            <a:endParaRPr lang="en-US" sz="1800" dirty="0"/>
          </a:p>
        </p:txBody>
      </p:sp>
      <p:sp>
        <p:nvSpPr>
          <p:cNvPr id="38" name="Text 35"/>
          <p:cNvSpPr/>
          <p:nvPr/>
        </p:nvSpPr>
        <p:spPr>
          <a:xfrm>
            <a:off x="4447032" y="5715000"/>
            <a:ext cx="32948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可管理模型數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5180076" y="1234440"/>
            <a:ext cx="1828800" cy="320040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0" name="Text 37"/>
          <p:cNvSpPr/>
          <p:nvPr/>
        </p:nvSpPr>
        <p:spPr>
          <a:xfrm>
            <a:off x="5180076" y="12344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⭐ 建議方案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8071104" y="1508760"/>
            <a:ext cx="3660648" cy="4617720"/>
          </a:xfrm>
          <a:prstGeom prst="rect">
            <a:avLst/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8071104" y="1508760"/>
            <a:ext cx="3660648" cy="6400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3" name="Text 40"/>
          <p:cNvSpPr/>
          <p:nvPr/>
        </p:nvSpPr>
        <p:spPr>
          <a:xfrm>
            <a:off x="8071104" y="1645920"/>
            <a:ext cx="3660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💰</a:t>
            </a:r>
            <a:endParaRPr lang="en-US" sz="2000" dirty="0"/>
          </a:p>
        </p:txBody>
      </p:sp>
      <p:sp>
        <p:nvSpPr>
          <p:cNvPr id="44" name="Text 41"/>
          <p:cNvSpPr/>
          <p:nvPr/>
        </p:nvSpPr>
        <p:spPr>
          <a:xfrm>
            <a:off x="8208264" y="2103120"/>
            <a:ext cx="33863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優勢 3</a:t>
            </a:r>
            <a:endParaRPr lang="en-US" sz="1600" dirty="0"/>
          </a:p>
        </p:txBody>
      </p:sp>
      <p:sp>
        <p:nvSpPr>
          <p:cNvPr id="45" name="Text 42"/>
          <p:cNvSpPr/>
          <p:nvPr/>
        </p:nvSpPr>
        <p:spPr>
          <a:xfrm>
            <a:off x="8208264" y="2468880"/>
            <a:ext cx="33863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TCO 最優</a:t>
            </a:r>
            <a:endParaRPr lang="en-US" sz="1300" dirty="0"/>
          </a:p>
        </p:txBody>
      </p:sp>
      <p:sp>
        <p:nvSpPr>
          <p:cNvPr id="46" name="Text 43"/>
          <p:cNvSpPr/>
          <p:nvPr/>
        </p:nvSpPr>
        <p:spPr>
          <a:xfrm>
            <a:off x="8208264" y="2807208"/>
            <a:ext cx="33863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免費 tier + 按用量計費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8345424" y="3227832"/>
            <a:ext cx="3112008" cy="27432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8" name="Text 45"/>
          <p:cNvSpPr/>
          <p:nvPr/>
        </p:nvSpPr>
        <p:spPr>
          <a:xfrm>
            <a:off x="8253984" y="3337560"/>
            <a:ext cx="3294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Gateway 本身免費（10k req/day）</a:t>
            </a:r>
            <a:endParaRPr lang="en-US" sz="1100" dirty="0"/>
          </a:p>
        </p:txBody>
      </p:sp>
      <p:sp>
        <p:nvSpPr>
          <p:cNvPr id="49" name="Text 46"/>
          <p:cNvSpPr/>
          <p:nvPr/>
        </p:nvSpPr>
        <p:spPr>
          <a:xfrm>
            <a:off x="8253984" y="3840480"/>
            <a:ext cx="3294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Cache 命中 0 成本</a:t>
            </a:r>
            <a:endParaRPr lang="en-US" sz="1100" dirty="0"/>
          </a:p>
        </p:txBody>
      </p:sp>
      <p:sp>
        <p:nvSpPr>
          <p:cNvPr id="50" name="Text 47"/>
          <p:cNvSpPr/>
          <p:nvPr/>
        </p:nvSpPr>
        <p:spPr>
          <a:xfrm>
            <a:off x="8253984" y="4343400"/>
            <a:ext cx="3294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無 minimum spend</a:t>
            </a:r>
            <a:endParaRPr lang="en-US" sz="1100" dirty="0"/>
          </a:p>
        </p:txBody>
      </p:sp>
      <p:sp>
        <p:nvSpPr>
          <p:cNvPr id="51" name="Text 48"/>
          <p:cNvSpPr/>
          <p:nvPr/>
        </p:nvSpPr>
        <p:spPr>
          <a:xfrm>
            <a:off x="8253984" y="4846320"/>
            <a:ext cx="3294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成本可視性 + 月度報告</a:t>
            </a:r>
            <a:endParaRPr lang="en-US" sz="1100" dirty="0"/>
          </a:p>
        </p:txBody>
      </p:sp>
      <p:sp>
        <p:nvSpPr>
          <p:cNvPr id="52" name="Text 49"/>
          <p:cNvSpPr/>
          <p:nvPr/>
        </p:nvSpPr>
        <p:spPr>
          <a:xfrm>
            <a:off x="8253984" y="5349240"/>
            <a:ext cx="3294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取代多家自建 LLM proxy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8253984" y="5349240"/>
            <a:ext cx="3294888" cy="65836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54" name="Text 51"/>
          <p:cNvSpPr/>
          <p:nvPr/>
        </p:nvSpPr>
        <p:spPr>
          <a:xfrm>
            <a:off x="8253984" y="5349240"/>
            <a:ext cx="32948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NT$0</a:t>
            </a:r>
            <a:endParaRPr lang="en-US" sz="1800" dirty="0"/>
          </a:p>
        </p:txBody>
      </p:sp>
      <p:sp>
        <p:nvSpPr>
          <p:cNvPr id="55" name="Text 52"/>
          <p:cNvSpPr/>
          <p:nvPr/>
        </p:nvSpPr>
        <p:spPr>
          <a:xfrm>
            <a:off x="8253984" y="5715000"/>
            <a:ext cx="32948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Gateway 月費</a:t>
            </a:r>
            <a:endParaRPr lang="en-US" sz="1000" dirty="0"/>
          </a:p>
        </p:txBody>
      </p:sp>
      <p:sp>
        <p:nvSpPr>
          <p:cNvPr id="56" name="Shape 53"/>
          <p:cNvSpPr/>
          <p:nvPr/>
        </p:nvSpPr>
        <p:spPr>
          <a:xfrm>
            <a:off x="457200" y="6236208"/>
            <a:ext cx="11274552" cy="347472"/>
          </a:xfrm>
          <a:prstGeom prst="roundRect">
            <a:avLst>
              <a:gd name="adj" fmla="val 15789"/>
            </a:avLst>
          </a:prstGeom>
          <a:solidFill>
            <a:srgbClr val="F0F6FF"/>
          </a:solidFill>
          <a:ln/>
        </p:spPr>
      </p:sp>
      <p:sp>
        <p:nvSpPr>
          <p:cNvPr id="57" name="Shape 54"/>
          <p:cNvSpPr/>
          <p:nvPr/>
        </p:nvSpPr>
        <p:spPr>
          <a:xfrm>
            <a:off x="457200" y="6236208"/>
            <a:ext cx="54864" cy="347472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58" name="Text 55"/>
          <p:cNvSpPr/>
          <p:nvPr/>
        </p:nvSpPr>
        <p:spPr>
          <a:xfrm>
            <a:off x="640080" y="6236208"/>
            <a:ext cx="110002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⚡ 對企業而言，AI Gateway 的價值不只在便宜，更在「可治理、可稽核、可預測成本」— 這正是樂雲解決方案的核心訴求。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" name="Text 1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38404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LEYUN AIGW SERVICE TIERS</a:t>
            </a:r>
            <a:pPr indent="0" marL="0">
              <a:buNone/>
            </a:pPr>
            <a:r>
              <a:rPr lang="en-US" sz="2600" b="1" dirty="0">
                <a:solidFill>
                  <a:srgbClr val="B0B0B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 |  </a:t>
            </a:r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樂雲 AI Gateway 商用方案三層分級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886968"/>
            <a:ext cx="7095744" cy="137160"/>
          </a:xfrm>
          <a:prstGeom prst="rect">
            <a:avLst/>
          </a:prstGeom>
          <a:solidFill>
            <a:srgbClr val="B8E6CE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109728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5BC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對應企業 AI 治理成熟度的三年陪伴模型 — 從 PoC 到全廠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649224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樂雲智能 · 課程公司簡介 · 15 min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554480"/>
            <a:ext cx="3657600" cy="42976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57200" y="16916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457200" y="21488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0B98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合規啟航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914400" y="2468880"/>
            <a:ext cx="2743200" cy="1828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3" name="Text 10"/>
          <p:cNvSpPr/>
          <p:nvPr/>
        </p:nvSpPr>
        <p:spPr>
          <a:xfrm>
            <a:off x="731520" y="260604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AI Gateway 部署 + Policy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731520" y="297180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單一部門試點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731520" y="333756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基礎 Token 儀表板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731520" y="370332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PoC 顧問支援 2 週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457200" y="42976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NT$80-150萬/年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457200" y="48463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適用對象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40080" y="50749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預備導入 AI 治理的中小企業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270248" y="1554480"/>
            <a:ext cx="3657600" cy="4297680"/>
          </a:xfrm>
          <a:prstGeom prst="roundRect">
            <a:avLst>
              <a:gd name="adj" fmla="val 2500"/>
            </a:avLst>
          </a:prstGeom>
          <a:solidFill>
            <a:srgbClr val="F38020"/>
          </a:solidFill>
          <a:ln w="25400">
            <a:solidFill>
              <a:srgbClr val="F3802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270248" y="16916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</a:t>
            </a:r>
            <a:endParaRPr lang="en-US" sz="2200" dirty="0"/>
          </a:p>
        </p:txBody>
      </p:sp>
      <p:sp>
        <p:nvSpPr>
          <p:cNvPr id="22" name="Text 19"/>
          <p:cNvSpPr/>
          <p:nvPr/>
        </p:nvSpPr>
        <p:spPr>
          <a:xfrm>
            <a:off x="4270248" y="21488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全廠擴展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727448" y="2468880"/>
            <a:ext cx="2743200" cy="182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1"/>
          <p:cNvSpPr/>
          <p:nvPr/>
        </p:nvSpPr>
        <p:spPr>
          <a:xfrm>
            <a:off x="4544568" y="260604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多部門 Policy 分級</a:t>
            </a:r>
            <a:endParaRPr lang="en-US" sz="1150" dirty="0"/>
          </a:p>
        </p:txBody>
      </p:sp>
      <p:sp>
        <p:nvSpPr>
          <p:cNvPr id="25" name="Text 22"/>
          <p:cNvSpPr/>
          <p:nvPr/>
        </p:nvSpPr>
        <p:spPr>
          <a:xfrm>
            <a:off x="4544568" y="297180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完整 Guardrails 規則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4544568" y="333756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成本分攤儀表板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4544568" y="370332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客製化稽核 Workflow</a:t>
            </a:r>
            <a:endParaRPr lang="en-US" sz="1150" dirty="0"/>
          </a:p>
        </p:txBody>
      </p:sp>
      <p:sp>
        <p:nvSpPr>
          <p:cNvPr id="28" name="Text 25"/>
          <p:cNvSpPr/>
          <p:nvPr/>
        </p:nvSpPr>
        <p:spPr>
          <a:xfrm>
            <a:off x="4270248" y="42976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NT$400-600萬/年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4270248" y="48463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適用對象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4453128" y="50749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已有 AI 工具但失控的中型企業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083296" y="1554480"/>
            <a:ext cx="3657600" cy="42976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083296" y="16916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</a:t>
            </a:r>
            <a:endParaRPr lang="en-US" sz="2200" dirty="0"/>
          </a:p>
        </p:txBody>
      </p:sp>
      <p:sp>
        <p:nvSpPr>
          <p:cNvPr id="33" name="Text 30"/>
          <p:cNvSpPr/>
          <p:nvPr/>
        </p:nvSpPr>
        <p:spPr>
          <a:xfrm>
            <a:off x="8083296" y="21488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B5CF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戰略治理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8540496" y="2468880"/>
            <a:ext cx="2743200" cy="1828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5" name="Text 32"/>
          <p:cNvSpPr/>
          <p:nvPr/>
        </p:nvSpPr>
        <p:spPr>
          <a:xfrm>
            <a:off x="8357616" y="260604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Advanced 全部 + 24/7 SOC</a:t>
            </a:r>
            <a:endParaRPr lang="en-US" sz="1150" dirty="0"/>
          </a:p>
        </p:txBody>
      </p:sp>
      <p:sp>
        <p:nvSpPr>
          <p:cNvPr id="36" name="Text 33"/>
          <p:cNvSpPr/>
          <p:nvPr/>
        </p:nvSpPr>
        <p:spPr>
          <a:xfrm>
            <a:off x="8357616" y="297180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專屬 TAM 技術窗口</a:t>
            </a:r>
            <a:endParaRPr lang="en-US" sz="1150" dirty="0"/>
          </a:p>
        </p:txBody>
      </p:sp>
      <p:sp>
        <p:nvSpPr>
          <p:cNvPr id="37" name="Text 34"/>
          <p:cNvSpPr/>
          <p:nvPr/>
        </p:nvSpPr>
        <p:spPr>
          <a:xfrm>
            <a:off x="8357616" y="333756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季度資安健診</a:t>
            </a:r>
            <a:endParaRPr lang="en-US" sz="1150" dirty="0"/>
          </a:p>
        </p:txBody>
      </p:sp>
      <p:sp>
        <p:nvSpPr>
          <p:cNvPr id="38" name="Text 35"/>
          <p:cNvSpPr/>
          <p:nvPr/>
        </p:nvSpPr>
        <p:spPr>
          <a:xfrm>
            <a:off x="8357616" y="370332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與 ZTNA + Intezer 整合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8083296" y="42976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B5CF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NT$800-1,200萬/年</a:t>
            </a:r>
            <a:endParaRPr lang="en-US" sz="1800" dirty="0"/>
          </a:p>
        </p:txBody>
      </p:sp>
      <p:sp>
        <p:nvSpPr>
          <p:cNvPr id="40" name="Text 37"/>
          <p:cNvSpPr/>
          <p:nvPr/>
        </p:nvSpPr>
        <p:spPr>
          <a:xfrm>
            <a:off x="8083296" y="48463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適用對象</a:t>
            </a:r>
            <a:endParaRPr lang="en-US" sz="1000" dirty="0"/>
          </a:p>
        </p:txBody>
      </p:sp>
      <p:sp>
        <p:nvSpPr>
          <p:cNvPr id="41" name="Text 38"/>
          <p:cNvSpPr/>
          <p:nvPr/>
        </p:nvSpPr>
        <p:spPr>
          <a:xfrm>
            <a:off x="8266176" y="50749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大型企業 / 金融 / 製造業旗艦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" name="Text 1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38404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THIS COURSE FITS</a:t>
            </a:r>
            <a:pPr indent="0" marL="0">
              <a:buNone/>
            </a:pPr>
            <a:r>
              <a:rPr lang="en-US" sz="2600" b="1" dirty="0">
                <a:solidFill>
                  <a:srgbClr val="B0B0B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 |  </a:t>
            </a:r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這堂課在樂雲整體戰略中的位置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886968"/>
            <a:ext cx="5632704" cy="137160"/>
          </a:xfrm>
          <a:prstGeom prst="rect">
            <a:avLst/>
          </a:prstGeom>
          <a:solidFill>
            <a:srgbClr val="B8E6CE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109728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5BC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本課程是樂雲「以教育帶動商用」策略的一環 — 學員即未來潛在合作夥伴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649224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樂雲智能 · 課程公司簡介 · 15 min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57200" y="1508760"/>
            <a:ext cx="5577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38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課程提供的給學員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57200" y="1965960"/>
            <a:ext cx="5577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完整可跑的 Cloudflare Worker 程式碼骨架（MIT 授權）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457200" y="2468880"/>
            <a:ext cx="5577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自己帳號上的 AI Gateway PoC 環境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" y="2971800"/>
            <a:ext cx="5577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對 BYOK / Policy / Guardrails 的實務理解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57200" y="3474720"/>
            <a:ext cx="5577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後續自學的延伸方向地圖（RAG / Telegram / 多租戶）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457200" y="3977640"/>
            <a:ext cx="5577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樂雲商用方案聯絡窗口（Basic / Advanced / Premium）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6309360" y="15087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樂雲後續可協助的延伸服務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6309360" y="19659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🛠️ PoC 30 天免費試用（更完整環境）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309360" y="24688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🏢 企業內訓客製化版本（含貴公司案例）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6309360" y="29718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🤝 商用方案導入（Basic / Advanced / Premium）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309360" y="34747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☎️ 顧問諮詢服務（資安治理、雲端架構評估）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309360" y="39776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📚 與 Cloudflare 原廠聯合舉辦的進階課程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457200" y="5806440"/>
            <a:ext cx="11274552" cy="365760"/>
          </a:xfrm>
          <a:prstGeom prst="roundRect">
            <a:avLst>
              <a:gd name="adj" fmla="val 15000"/>
            </a:avLst>
          </a:prstGeom>
          <a:solidFill>
            <a:srgbClr val="F0F6FF"/>
          </a:solidFill>
          <a:ln/>
        </p:spPr>
      </p:sp>
      <p:sp>
        <p:nvSpPr>
          <p:cNvPr id="22" name="Shape 19"/>
          <p:cNvSpPr/>
          <p:nvPr/>
        </p:nvSpPr>
        <p:spPr>
          <a:xfrm>
            <a:off x="457200" y="5806440"/>
            <a:ext cx="54864" cy="365760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23" name="Text 20"/>
          <p:cNvSpPr/>
          <p:nvPr/>
        </p:nvSpPr>
        <p:spPr>
          <a:xfrm>
            <a:off x="640080" y="5806440"/>
            <a:ext cx="110002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今天教的是「免費自建版本」，明天樂雲可以幫您升級成「商用治理版本」— 這就是樂雲的差異化價值。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486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LEYUN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聯繫樂雲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210312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免費諮詢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32004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☎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32004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+886-2-77220055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🌐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37033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www.leyun.cloud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42062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✉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14400" y="42062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service@leyun.cloud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029200" y="1554480"/>
            <a:ext cx="6675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樂雲智能股份有限公司 · LEYUN Intelligence Co., Ltd.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0" y="2011680"/>
            <a:ext cx="91440" cy="1828800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13" name="Text 11"/>
          <p:cNvSpPr/>
          <p:nvPr/>
        </p:nvSpPr>
        <p:spPr>
          <a:xfrm>
            <a:off x="5257800" y="2011680"/>
            <a:ext cx="64922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獲取免費諮詢</a:t>
            </a:r>
            <a:endParaRPr lang="en-US" sz="2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與 30 天 PoC 試用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5257800" y="3913632"/>
            <a:ext cx="6492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本課程講師 Victor Lin · 解決方案事業部主管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0" y="4617720"/>
            <a:ext cx="64008" cy="384048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16" name="Text 14"/>
          <p:cNvSpPr/>
          <p:nvPr/>
        </p:nvSpPr>
        <p:spPr>
          <a:xfrm>
            <a:off x="5212080" y="4617720"/>
            <a:ext cx="6492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8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NEXT STEP — 申請 PoC 環境，或洽詢企業內訓客製化版本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212080" y="5074920"/>
            <a:ext cx="6492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直接 email：victor@leyun.cloud  |  或週一至週五 09:00-18:00 來電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樂雲智能公司簡介 — Cloudflare AI Gateway 課程</dc:title>
  <dc:subject>PptxGenJS Presentation</dc:subject>
  <dc:creator>樂雲智能 LEYUN</dc:creator>
  <cp:lastModifiedBy>樂雲智能 LEYUN</cp:lastModifiedBy>
  <cp:revision>1</cp:revision>
  <dcterms:created xsi:type="dcterms:W3CDTF">2026-05-16T09:37:36Z</dcterms:created>
  <dcterms:modified xsi:type="dcterms:W3CDTF">2026-05-16T09:37:36Z</dcterms:modified>
</cp:coreProperties>
</file>