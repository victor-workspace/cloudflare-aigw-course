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YUN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YUN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19088"/>
            <a:ext cx="11274552" cy="27432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YUN_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3802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8961120" y="0"/>
            <a:ext cx="3200400" cy="3657600"/>
          </a:xfrm>
          <a:prstGeom prst="rtTriangle">
            <a:avLst/>
          </a:prstGeom>
          <a:solidFill>
            <a:srgbClr val="F38020"/>
          </a:solidFill>
          <a:ln/>
        </p:spPr>
      </p:sp>
      <p:sp>
        <p:nvSpPr>
          <p:cNvPr id="3" name="Shape 1"/>
          <p:cNvSpPr/>
          <p:nvPr/>
        </p:nvSpPr>
        <p:spPr>
          <a:xfrm flipH="1" flipV="1">
            <a:off x="9601200" y="5029200"/>
            <a:ext cx="2560320" cy="1828800"/>
          </a:xfrm>
          <a:prstGeom prst="rtTriangle">
            <a:avLst/>
          </a:prstGeom>
          <a:solidFill>
            <a:srgbClr val="F38020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3657600"/>
            <a:ext cx="548640" cy="548640"/>
          </a:xfrm>
          <a:prstGeom prst="diamond">
            <a:avLst/>
          </a:prstGeom>
          <a:solidFill>
            <a:srgbClr val="1E5BC6"/>
          </a:solidFill>
          <a:ln/>
        </p:spPr>
      </p:sp>
      <p:pic>
        <p:nvPicPr>
          <p:cNvPr id="5" name="Image 0" descr="/home/shark/workspace/obsidian-brain-victor/Resources/Presentation-Library/_templates/assets/leyu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37160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AI GATEWAY · MCP · BYOK · ZERO TRUST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38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38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實戰課程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548640" y="3566160"/>
            <a:ext cx="8229600" cy="228600"/>
          </a:xfrm>
          <a:prstGeom prst="rect">
            <a:avLst/>
          </a:prstGeom>
          <a:solidFill>
            <a:srgbClr val="B8E6CE">
              <a:alpha val="7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從零打造一個跑在邊緣的 AI 對話助理 — 含 MCP 工具整合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講師: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Victor Lin · 樂雲智能 解決方案事業部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對象: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 學員 · 已具備 TypeScript / React 基礎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563E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90 min Live Code Walk + Hands-on Workshop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× Governance × Speed.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1430000" y="6446520"/>
            <a:ext cx="301752" cy="301752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0" y="64465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pPr indent="0" marL="0">
              <a:buNone/>
            </a:pPr>
            <a:r>
              <a:rPr lang="en-US" sz="26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提案大綱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886968"/>
            <a:ext cx="2286000" cy="137160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 實戰 · 樂雲課程 · 90 min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5554980" cy="2455164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325880"/>
            <a:ext cx="64008" cy="2455164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" y="2361438"/>
            <a:ext cx="384048" cy="384048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236143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15568" y="232486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📘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64208" y="1435608"/>
            <a:ext cx="4229100" cy="1031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 概論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64208" y="2504359"/>
            <a:ext cx="4229100" cy="1104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 min — 痛點 + 三大能力 + BYOK 機制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6772" y="1325880"/>
            <a:ext cx="5554980" cy="2455164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6772" y="1325880"/>
            <a:ext cx="64008" cy="2455164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17" name="Shape 14"/>
          <p:cNvSpPr/>
          <p:nvPr/>
        </p:nvSpPr>
        <p:spPr>
          <a:xfrm>
            <a:off x="6341364" y="2361438"/>
            <a:ext cx="384048" cy="384048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18" name="Text 15"/>
          <p:cNvSpPr/>
          <p:nvPr/>
        </p:nvSpPr>
        <p:spPr>
          <a:xfrm>
            <a:off x="6341364" y="236143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35140" y="232486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383780" y="1435608"/>
            <a:ext cx="4229100" cy="1031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實作專案架構導覽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383780" y="2504359"/>
            <a:ext cx="4229100" cy="1104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25 min — Code Walk 8 支 src + D1 schema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945636"/>
            <a:ext cx="5554980" cy="2455164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3945636"/>
            <a:ext cx="64008" cy="2455164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24" name="Shape 21"/>
          <p:cNvSpPr/>
          <p:nvPr/>
        </p:nvSpPr>
        <p:spPr>
          <a:xfrm>
            <a:off x="621792" y="4981194"/>
            <a:ext cx="384048" cy="384048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25" name="Text 22"/>
          <p:cNvSpPr/>
          <p:nvPr/>
        </p:nvSpPr>
        <p:spPr>
          <a:xfrm>
            <a:off x="621792" y="498119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15568" y="494461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🛠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664208" y="4055364"/>
            <a:ext cx="4229100" cy="1031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動手實作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664208" y="5124115"/>
            <a:ext cx="4229100" cy="1104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45 min — 4 階段部署你自己的 AI Bot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76772" y="3945636"/>
            <a:ext cx="5554980" cy="2455164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76772" y="3945636"/>
            <a:ext cx="64008" cy="2455164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31" name="Shape 28"/>
          <p:cNvSpPr/>
          <p:nvPr/>
        </p:nvSpPr>
        <p:spPr>
          <a:xfrm>
            <a:off x="6341364" y="4981194"/>
            <a:ext cx="384048" cy="384048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2" name="Text 29"/>
          <p:cNvSpPr/>
          <p:nvPr/>
        </p:nvSpPr>
        <p:spPr>
          <a:xfrm>
            <a:off x="6341364" y="498119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835140" y="494461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💬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383780" y="4055364"/>
            <a:ext cx="4229100" cy="1031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Q&amp;A + 延伸方向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383780" y="5124115"/>
            <a:ext cx="4229100" cy="1104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 min — 延伸自學地圖 + 樂雲商用方案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GATEWAY</a:t>
            </a:r>
            <a:pPr indent="0" marL="0">
              <a:buNone/>
            </a:pPr>
            <a:r>
              <a:rPr lang="en-US" sz="26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為什麼需要 AI Gateway：企業 AI 三大痛點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886968"/>
            <a:ext cx="6364224" cy="137160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972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直接呼叫 OpenAI / Anthropic 一切都好，直到企業內 100 人同時用 AI 的那天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 實戰 · 樂雲課程 · 90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72768"/>
            <a:ext cx="1127455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572768"/>
            <a:ext cx="502920" cy="160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572768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痛點 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" y="1682496"/>
            <a:ext cx="8988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安全 — API Key 散落、無法即時撤銷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43000" y="2029968"/>
            <a:ext cx="89885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工程師把 API Key 寫進前端、commit 進 git、貼到 Slack。一旦外洩，要追到誰用了什麼 model、產生什麼成本、生成什麼回應，完全沒有日誌。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14432" y="1984248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314432" y="20299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企業 LLM Key 洩漏率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314432" y="22585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38%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57200" y="3310128"/>
            <a:ext cx="1127455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310128"/>
            <a:ext cx="502920" cy="1600200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310128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痛點 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3000" y="3419856"/>
            <a:ext cx="8988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成本 — 帳單失控、無法分攤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43000" y="3767328"/>
            <a:ext cx="89885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OpenAI 一張帳單、Anthropic 一張帳單、Google 一張帳單。月底結算才發現某部門燒掉 NT$50 萬，但無法知道是「誰、什麼時候、跑了什麼 prompt」。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314432" y="3721608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14432" y="37673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成本超支事件比例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314432" y="3995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8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67%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457200" y="5047488"/>
            <a:ext cx="1127455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5047488"/>
            <a:ext cx="502920" cy="1600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5047488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痛點 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43000" y="5157216"/>
            <a:ext cx="8988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治理 — 無 Guardrails、無稽核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43000" y="5504688"/>
            <a:ext cx="89885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員工把客戶 BOM 表貼進 ChatGPT 翻譯、把產品設計圖貼進 Gemini 詢問。沒有任何過濾機制，也無法事後追查哪些敏感資料外流到 LLM。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314432" y="5458968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314432" y="55046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資料外洩年增率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314432" y="57332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+340%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AI GATEWAY</a:t>
            </a:r>
            <a:pPr indent="0" marL="0">
              <a:buNone/>
            </a:pPr>
            <a:r>
              <a:rPr lang="en-US" sz="26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 — 一行 URL 修改解決三大痛點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886968"/>
            <a:ext cx="8686800" cy="137160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972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原本：https://api.openai.com/v1/...  →  改成：https://gateway.ai.cloudflare.com/v1/{account}/{gw}/openai/v1/...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0" y="3291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統一管理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601200" y="5669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51+ LLM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 實戰 · 樂雲課程 · 90 min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508760"/>
            <a:ext cx="2706624" cy="402336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9050">
            <a:solidFill>
              <a:srgbClr val="F380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508760"/>
            <a:ext cx="2706624" cy="1097280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554480"/>
            <a:ext cx="2706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57200" y="1993392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7200" y="2331720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Key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278892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API Key 由 Gateway 後端保管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17296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透過 alias 呼叫，不出現在 Worker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3557016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可即時撤銷單一 alias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394106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支援 Anthropic / OpenAI / Google / Mistral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00984" y="1508760"/>
            <a:ext cx="2706624" cy="402336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00984" y="1508760"/>
            <a:ext cx="270662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3300984" y="1554480"/>
            <a:ext cx="2706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3300984" y="1993392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300984" y="2331720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Token / Latency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483864" y="278892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每次請求自動記錄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483864" y="317296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部門 × 專案 cost 分攤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83864" y="3557016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30 天趨勢儀表板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483864" y="394106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異常告警 + 月度報告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44768" y="1508760"/>
            <a:ext cx="2706624" cy="402336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44768" y="1508760"/>
            <a:ext cx="2706624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8"/>
          <p:cNvSpPr/>
          <p:nvPr/>
        </p:nvSpPr>
        <p:spPr>
          <a:xfrm>
            <a:off x="6144768" y="1554480"/>
            <a:ext cx="2706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6144768" y="1993392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144768" y="2331720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DLP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327648" y="278892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Policy 部門 / 職級 / 專案分組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327648" y="317296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自動偵測 PII / 機密關鍵字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327648" y="3557016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違規請求自動攔截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327648" y="394106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Prompt injection 防護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988552" y="1508760"/>
            <a:ext cx="2706624" cy="402336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9050">
            <a:solidFill>
              <a:srgbClr val="1E5BC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988552" y="1508760"/>
            <a:ext cx="2706624" cy="1097280"/>
          </a:xfrm>
          <a:prstGeom prst="rect">
            <a:avLst/>
          </a:prstGeom>
          <a:solidFill>
            <a:srgbClr val="1E5BC6"/>
          </a:solidFill>
          <a:ln/>
        </p:spPr>
      </p:sp>
      <p:sp>
        <p:nvSpPr>
          <p:cNvPr id="40" name="Text 37"/>
          <p:cNvSpPr/>
          <p:nvPr/>
        </p:nvSpPr>
        <p:spPr>
          <a:xfrm>
            <a:off x="8988552" y="1554480"/>
            <a:ext cx="2706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41" name="Text 38"/>
          <p:cNvSpPr/>
          <p:nvPr/>
        </p:nvSpPr>
        <p:spPr>
          <a:xfrm>
            <a:off x="8988552" y="1993392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8988552" y="2331720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+ Cost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171432" y="278892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相同請求直接回 cache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9171432" y="317296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0 成本、&lt;10ms 回應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171432" y="3557016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可設定 TTL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171432" y="394106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降低 LLM 帳單 30-60%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MECHANISM</a:t>
            </a:r>
            <a:pPr indent="0" marL="0">
              <a:buNone/>
            </a:pPr>
            <a:r>
              <a:rPr lang="en-US" sz="26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BYOK 機制 — 為什麼 API Key 不會進 Worker？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886968"/>
            <a:ext cx="7242048" cy="137160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972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Worker 只送 alias 名稱，Gateway 後端依 alias 注入真實 API Key 給 provider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 實戰 · 樂雲課程 · 90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08760"/>
            <a:ext cx="5376672" cy="5074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508760"/>
            <a:ext cx="5376672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618488"/>
            <a:ext cx="5102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❌  現況 As-Is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2011680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傳統做法（不安全）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2377440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Worker 內存 OPENAI_API_KEY secret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2944368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請求 header：Authorization: Bearer sk-...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" y="3511296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API Key 出現在每個 worker request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" y="4078224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一旦 worker 程式碼被看到 → 金鑰外洩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4645152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無法針對單一專案撤銷金鑰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5486400"/>
            <a:ext cx="5239512" cy="42062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5486400"/>
            <a:ext cx="510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🔴 高風險  Key 直接在 Worker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5961888"/>
            <a:ext cx="5239512" cy="42062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5961888"/>
            <a:ext cx="510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🔴 全有全無  撤銷只能整把換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 rot="5400000">
            <a:off x="5897880" y="3790188"/>
            <a:ext cx="457200" cy="384048"/>
          </a:xfrm>
          <a:prstGeom prst="triangle">
            <a:avLst/>
          </a:prstGeom>
          <a:solidFill>
            <a:srgbClr val="F38020"/>
          </a:solidFill>
          <a:ln/>
        </p:spPr>
      </p:sp>
      <p:sp>
        <p:nvSpPr>
          <p:cNvPr id="23" name="Shape 20"/>
          <p:cNvSpPr/>
          <p:nvPr/>
        </p:nvSpPr>
        <p:spPr>
          <a:xfrm>
            <a:off x="6446520" y="1508760"/>
            <a:ext cx="5376672" cy="50749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46520" y="1508760"/>
            <a:ext cx="5376672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6629400" y="1618488"/>
            <a:ext cx="5102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  目標 To-Be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629400" y="2011680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BYOK 做法（安全）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83680" y="2377440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Gateway Dashboard 設定 alias: "claude_demo"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583680" y="2944368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Worker header: cf-aig-byok-alias: claude_demo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583680" y="3511296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Gateway 後端依 alias 注入真實 sk-...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583680" y="4078224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Worker 完全看不到真實金鑰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583680" y="4645152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可針對單一 alias 即時撤銷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492240" y="5486400"/>
            <a:ext cx="5239512" cy="42062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3" name="Text 30"/>
          <p:cNvSpPr/>
          <p:nvPr/>
        </p:nvSpPr>
        <p:spPr>
          <a:xfrm>
            <a:off x="6629400" y="5486400"/>
            <a:ext cx="510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 隔離  Key 永遠不出 Gateway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492240" y="5961888"/>
            <a:ext cx="5239512" cy="42062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5" name="Text 32"/>
          <p:cNvSpPr/>
          <p:nvPr/>
        </p:nvSpPr>
        <p:spPr>
          <a:xfrm>
            <a:off x="6629400" y="5961888"/>
            <a:ext cx="510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 細粒度  單一 alias 即時撤銷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4754880" y="219456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實作專案架構導覽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754880" y="3364992"/>
            <a:ext cx="3200400" cy="182880"/>
          </a:xfrm>
          <a:prstGeom prst="rect">
            <a:avLst/>
          </a:prstGeom>
          <a:solidFill>
            <a:srgbClr val="B8E6CE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 · 8 支 src + D1 schema + 前端兩頁</a:t>
            </a:r>
            <a:endParaRPr lang="en-US" sz="1800" dirty="0"/>
          </a:p>
        </p:txBody>
      </p:sp>
      <p:pic>
        <p:nvPicPr>
          <p:cNvPr id="7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26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整體架構：1 Worker + D1 + KV + AI Gateway + MCP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886968"/>
            <a:ext cx="8266176" cy="137160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972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全程跑在 Cloudflare 邊緣，無需自建任何伺服器 — 學員今天就能複製這個架構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 實戰 · 樂雲課程 · 90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FAFBFC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554480"/>
            <a:ext cx="11000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🌐  學員瀏覽器（Chrome / Safari）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1E5BC6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286000"/>
            <a:ext cx="110002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Pages — frontend（React + Vite）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ChatPage  +  McpManagerPage  +  LoginPage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20040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F38020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3200400"/>
            <a:ext cx="110002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Worker — aigw-course-api  (TypeScript)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index.ts (路由)  →  auth.ts  /  chat.ts ★  /  mcp.ts ★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middleware.ts (CORS + JWT + rate limit)   utils.ts (JWT / PBKDF2)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66344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466344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D1 SQLite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users / refresh_tokens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conversations / chat_messages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97680" y="466344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4434840" y="466344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KV Namespaces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SESSIONS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(MCP token / 暫存)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RATE_LIMITS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38160" y="4663440"/>
            <a:ext cx="3593592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8275320" y="4663440"/>
            <a:ext cx="3319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Gateway + MCP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BYOK → Anthropic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MCP → Cloudflare Docs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6080760"/>
            <a:ext cx="11274552" cy="292608"/>
          </a:xfrm>
          <a:prstGeom prst="roundRect">
            <a:avLst>
              <a:gd name="adj" fmla="val 18750"/>
            </a:avLst>
          </a:prstGeom>
          <a:solidFill>
            <a:srgbClr val="F0F6FF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" y="6080760"/>
            <a:ext cx="54864" cy="292608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6080760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★ chat.ts + mcp.ts 是課程核心 — 包含 AI Gateway BYOK 呼叫與 MCP 工具自動 routing 邏輯。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STRUCTURE</a:t>
            </a:r>
            <a:pPr indent="0" marL="0">
              <a:buNone/>
            </a:pPr>
            <a:r>
              <a:rPr lang="en-US" sz="26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Worker 8 支 src — 每個檔案做什麼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886968"/>
            <a:ext cx="6217920" cy="137160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972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總共約 1,000 行程式碼 — 學員上完課可在自己專案複製貼上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 實戰 · 樂雲課程 · 90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481328"/>
            <a:ext cx="8348472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0" name="Shape 7"/>
          <p:cNvSpPr/>
          <p:nvPr/>
        </p:nvSpPr>
        <p:spPr>
          <a:xfrm>
            <a:off x="3383280" y="1481328"/>
            <a:ext cx="2746248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481328"/>
            <a:ext cx="274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檔案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66104" y="1481328"/>
            <a:ext cx="2746248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6166104" y="1481328"/>
            <a:ext cx="274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48928" y="1481328"/>
            <a:ext cx="2746248" cy="475488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15" name="Text 12"/>
          <p:cNvSpPr/>
          <p:nvPr/>
        </p:nvSpPr>
        <p:spPr>
          <a:xfrm>
            <a:off x="8948928" y="1481328"/>
            <a:ext cx="274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核心職責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1956816"/>
            <a:ext cx="11274552" cy="51777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1956816"/>
            <a:ext cx="2743200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index.ts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383280" y="1956816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~80 行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66104" y="1956816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請求進來後第一站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948928" y="1956816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 條 route → 對應 handler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474595"/>
            <a:ext cx="11274552" cy="517779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2474595"/>
            <a:ext cx="2743200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types.ts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383280" y="2474595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~80 行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66104" y="2474595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型別宣告中心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948928" y="2474595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Env interface 宣告所有 binding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2992374"/>
            <a:ext cx="11274552" cy="51777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2992374"/>
            <a:ext cx="2743200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utils.ts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383280" y="2992374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~130 行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166104" y="2992374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底層 helper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948928" y="2992374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(HMAC) + PBKDF2 + base64url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3510153"/>
            <a:ext cx="11274552" cy="517779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4360" y="3510153"/>
            <a:ext cx="2743200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middleware.ts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383280" y="3510153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~80 行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166104" y="3510153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請求預處理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948928" y="3510153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CORS + JWT 驗證 + rate limit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7200" y="4027932"/>
            <a:ext cx="11274552" cy="51777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4360" y="4027932"/>
            <a:ext cx="2743200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auth.ts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383280" y="4027932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~120 行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166104" y="4027932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帳號認證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948928" y="4027932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register / login / refresh / 失敗鎖定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7200" y="4545711"/>
            <a:ext cx="11274552" cy="517779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545711"/>
            <a:ext cx="2743200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chat.ts ★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3383280" y="4545711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~200 行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166104" y="4545711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對話核心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948928" y="4545711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BYOK 呼叫 + tool calling agentic loop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57200" y="5063490"/>
            <a:ext cx="11274552" cy="51777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4360" y="5063490"/>
            <a:ext cx="2743200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mcp.ts ★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3383280" y="5063490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~110 行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166104" y="5063490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MCP server 管理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8948928" y="5063490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list / list-tools / save-token / disconnect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57200" y="5581269"/>
            <a:ext cx="11274552" cy="517779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4360" y="5581269"/>
            <a:ext cx="2743200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mcp-client.ts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383280" y="5581269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~100 行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166104" y="5581269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MCP 協議實作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8948928" y="5581269"/>
            <a:ext cx="2746248" cy="51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JSON-RPC over HTTP + SSE parser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 — BYOK</a:t>
            </a:r>
            <a:pPr indent="0" marL="0">
              <a:buNone/>
            </a:pPr>
            <a:r>
              <a:rPr lang="en-US" sz="26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chat.ts 關鍵段：BYOK header 三明治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886968"/>
            <a:ext cx="6656832" cy="137160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972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一個函式就讓你的 Worker 變成「企業級 AI 治理閘道」的客戶端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 實戰 · 樂雲課程 · 90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08760"/>
            <a:ext cx="11274552" cy="3200400"/>
          </a:xfrm>
          <a:prstGeom prst="roundRect">
            <a:avLst>
              <a:gd name="adj" fmla="val 1429"/>
            </a:avLst>
          </a:prstGeom>
          <a:solidFill>
            <a:srgbClr val="1F2937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645920"/>
            <a:ext cx="1090879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anthropicHeaders(env: Env): Record&lt;string, string&gt;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'Content-Type': 'application/json',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'cf-aig-authorization': `Bearer ${env.CF_AI_GATEWAY_TOKEN}`,  // ← Gateway 自己的 token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'cf-aig-byok-alias':    env.ANTHROPIC_BYOK_ALIAS ?? 'claude_demo', // ← alias 名稱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'anthropic-version':    '2023-06-01',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呼叫時：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 = await fetch(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`https://gateway.ai.cloudflare.com/v1/${env.CF_ACCOUNT_ID}/${env.CF_AI_GATEWAY_ID}/anthropic/v1/messages`,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method: 'POST', headers: anthropicHeaders(env), body: JSON.stringify(reqBody)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48920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AFBFC"/>
          </a:solidFill>
          <a:ln w="12700">
            <a:solidFill>
              <a:srgbClr val="F38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983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8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注意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52578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請求 header 完全看不到真實的 Anthropic API Key（sk-ant-xxx）— 那把鑰匙存在 Gateway 後端，由 alias 對應注入。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70248" y="48920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AFB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07408" y="4983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注意 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407408" y="52578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URL 路徑包含 account/gateway/provider 三段 — provider 改成 openai、google 即可切換模型廠商，介面不變。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83296" y="48920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AFBF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0456" y="4983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注意 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0456" y="52578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Gateway 自動記錄這次呼叫的 cost / tokens / latency / 是否觸發 guardrails — 全部進 Dashboard 報表。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CALLING FLOW</a:t>
            </a:r>
            <a:pPr indent="0" marL="0">
              <a:buNone/>
            </a:pPr>
            <a:r>
              <a:rPr lang="en-US" sz="26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MCP 工具呼叫流程：AI 怎麼知道要打哪個工具？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886968"/>
            <a:ext cx="7095744" cy="137160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972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Agentic Loop — 最多 5 輪，AI 自行決定何時呼叫工具、何時回答使用者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 實戰 · 樂雲課程 · 90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F3802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737360"/>
            <a:ext cx="640080" cy="64008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71600" y="164592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使用者問問題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「幫我查 R2 的最新功能」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53912" y="155448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91072" y="173736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6291072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068312" y="164592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Worker 呼叫 mcpListTools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取得 cloudflare-docs MCP 提供的所有工具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10896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32918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371600" y="320040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把工具描述 + 使用者訊息送到 Claude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Claude 回應「我要呼叫 search_docs(query=R2)」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53912" y="310896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E5BC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91072" y="3291840"/>
            <a:ext cx="640080" cy="640080"/>
          </a:xfrm>
          <a:prstGeom prst="ellipse">
            <a:avLst/>
          </a:prstGeom>
          <a:solidFill>
            <a:srgbClr val="1E5BC6"/>
          </a:solidFill>
          <a:ln/>
        </p:spPr>
      </p:sp>
      <p:sp>
        <p:nvSpPr>
          <p:cNvPr id="23" name="Text 20"/>
          <p:cNvSpPr/>
          <p:nvPr/>
        </p:nvSpPr>
        <p:spPr>
          <a:xfrm>
            <a:off x="6291072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068312" y="320040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Worker 用 mcpCallTool 打到 MCP 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收到工具回傳的文件內容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66344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48463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371600" y="475488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把工具結果送回 Claude（同對話）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Claude 根據結果產出自然語言回答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53912" y="466344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91072" y="4846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8"/>
          <p:cNvSpPr/>
          <p:nvPr/>
        </p:nvSpPr>
        <p:spPr>
          <a:xfrm>
            <a:off x="6291072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7068312" y="475488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存進 D1 chat_messages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回傳給前端 UI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4754880" y="219456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動手實作 — 4 階段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754880" y="3364992"/>
            <a:ext cx="3200400" cy="182880"/>
          </a:xfrm>
          <a:prstGeom prst="rect">
            <a:avLst/>
          </a:prstGeom>
          <a:solidFill>
            <a:srgbClr val="B8E6CE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分鐘從 0 部署你自己的 AI Bot</a:t>
            </a:r>
            <a:endParaRPr lang="en-US" sz="1800" dirty="0"/>
          </a:p>
        </p:txBody>
      </p:sp>
      <p:pic>
        <p:nvPicPr>
          <p:cNvPr id="7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ROADMAP</a:t>
            </a:r>
            <a:pPr indent="0" marL="0">
              <a:buNone/>
            </a:pPr>
            <a:r>
              <a:rPr lang="en-US" sz="26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 階段部署 — 跟著做就完成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886968"/>
            <a:ext cx="4901184" cy="137160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972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前置作業已完成的學員 → 全程約 30 分鐘，剩下 15 分鐘可玩 MCP 工具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 實戰 · 樂雲課程 · 90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72768"/>
            <a:ext cx="2667762" cy="498348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572768"/>
            <a:ext cx="2667762" cy="530352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572768"/>
            <a:ext cx="120049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57693" y="1572768"/>
            <a:ext cx="146726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 min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2194560"/>
            <a:ext cx="23934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環境啟動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4360" y="299008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git clone &lt;repo&gt;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358444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npm install (worker + frontend)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" y="417880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wrangler login（已預先做完）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477316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wrangler d1 create + kv namespace create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" y="6080760"/>
            <a:ext cx="2393442" cy="384048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6080760"/>
            <a:ext cx="23934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 個 ID 拿到手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 rot="5400000">
            <a:off x="3124962" y="3918204"/>
            <a:ext cx="201168" cy="292608"/>
          </a:xfrm>
          <a:prstGeom prst="triangle">
            <a:avLst/>
          </a:prstGeom>
          <a:solidFill>
            <a:srgbClr val="F38020"/>
          </a:solidFill>
          <a:ln/>
        </p:spPr>
      </p:sp>
      <p:sp>
        <p:nvSpPr>
          <p:cNvPr id="21" name="Shape 18"/>
          <p:cNvSpPr/>
          <p:nvPr/>
        </p:nvSpPr>
        <p:spPr>
          <a:xfrm>
            <a:off x="3326130" y="1572768"/>
            <a:ext cx="2667762" cy="498348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26130" y="1572768"/>
            <a:ext cx="2667762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3326130" y="1572768"/>
            <a:ext cx="120049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B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26623" y="1572768"/>
            <a:ext cx="146726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 min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463290" y="2194560"/>
            <a:ext cx="23934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設定金鑰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3463290" y="299008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Dashboard 建 AI Gateway → Gateway Token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63290" y="358444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設定 BYOK alias (claude_demo)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463290" y="417880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cp wrangler.toml.example → 填 5 個 ID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463290" y="477316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wrangler secret put × 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463290" y="6080760"/>
            <a:ext cx="2393442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3463290" y="6080760"/>
            <a:ext cx="23934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wrangler.toml 完整可用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 rot="5400000">
            <a:off x="5993892" y="3918204"/>
            <a:ext cx="201168" cy="292608"/>
          </a:xfrm>
          <a:prstGeom prst="triangle">
            <a:avLst/>
          </a:prstGeom>
          <a:solidFill>
            <a:srgbClr val="F38020"/>
          </a:solidFill>
          <a:ln/>
        </p:spPr>
      </p:sp>
      <p:sp>
        <p:nvSpPr>
          <p:cNvPr id="33" name="Shape 30"/>
          <p:cNvSpPr/>
          <p:nvPr/>
        </p:nvSpPr>
        <p:spPr>
          <a:xfrm>
            <a:off x="6195060" y="1572768"/>
            <a:ext cx="2667762" cy="498348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95060" y="1572768"/>
            <a:ext cx="2667762" cy="5303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2"/>
          <p:cNvSpPr/>
          <p:nvPr/>
        </p:nvSpPr>
        <p:spPr>
          <a:xfrm>
            <a:off x="6195060" y="1572768"/>
            <a:ext cx="120049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C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395553" y="1572768"/>
            <a:ext cx="146726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 min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332220" y="2194560"/>
            <a:ext cx="23934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部署測試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332220" y="299008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npm run db:init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332220" y="358444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npm run deploy (Worker)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332220" y="417880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前端 npm run build &amp;&amp; deploy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332220" y="477316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註冊 → 登入 → 對話成功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332220" y="6080760"/>
            <a:ext cx="2393442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3" name="Text 40"/>
          <p:cNvSpPr/>
          <p:nvPr/>
        </p:nvSpPr>
        <p:spPr>
          <a:xfrm>
            <a:off x="6332220" y="6080760"/>
            <a:ext cx="23934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Gateway Logs 看到請求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 rot="5400000">
            <a:off x="8862822" y="3918204"/>
            <a:ext cx="201168" cy="292608"/>
          </a:xfrm>
          <a:prstGeom prst="triangle">
            <a:avLst/>
          </a:prstGeom>
          <a:solidFill>
            <a:srgbClr val="F38020"/>
          </a:solidFill>
          <a:ln/>
        </p:spPr>
      </p:sp>
      <p:sp>
        <p:nvSpPr>
          <p:cNvPr id="45" name="Shape 42"/>
          <p:cNvSpPr/>
          <p:nvPr/>
        </p:nvSpPr>
        <p:spPr>
          <a:xfrm>
            <a:off x="9063990" y="1572768"/>
            <a:ext cx="2667762" cy="498348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063990" y="1572768"/>
            <a:ext cx="2667762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7" name="Text 44"/>
          <p:cNvSpPr/>
          <p:nvPr/>
        </p:nvSpPr>
        <p:spPr>
          <a:xfrm>
            <a:off x="9063990" y="1572768"/>
            <a:ext cx="120049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D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10264483" y="1572768"/>
            <a:ext cx="146726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 min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9201150" y="2194560"/>
            <a:ext cx="23934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接 MCP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9201150" y="299008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MCP 工具管理頁查看工具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9201150" y="358444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對話試問「查 Cloudflare R2 文件」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9201150" y="417880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AI 自動 routing 到 MCP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9201150" y="4773168"/>
            <a:ext cx="23934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看完整 agentic loop 過程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9201150" y="6080760"/>
            <a:ext cx="2393442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5" name="Text 52"/>
          <p:cNvSpPr/>
          <p:nvPr/>
        </p:nvSpPr>
        <p:spPr>
          <a:xfrm>
            <a:off x="9201150" y="6080760"/>
            <a:ext cx="23934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MCP 工具自動被呼叫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pPr indent="0" marL="0">
              <a:buNone/>
            </a:pPr>
            <a:r>
              <a:rPr lang="en-US" sz="26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延伸自學地圖 + 樂雲商用方案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886968"/>
            <a:ext cx="4169664" cy="137160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972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今天教的是免費自建版本 — 樂雲提供企業級進階版本與整合服務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 實戰 · 樂雲課程 · 90 min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5087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🚀  延伸自學方向（免費）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9144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 RAG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103120" y="20116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Vectorize index + @cf/baai/bge embeddings，讓 AI 查內部文件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651760"/>
            <a:ext cx="9144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串流輸出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103120" y="26517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fetch + ReadableStream，前端打字機效果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3291840"/>
            <a:ext cx="9144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291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Telegram Bot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103120" y="3291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多開一個 worker 接 webhook，AI 即可進 LINE/TG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3931920"/>
            <a:ext cx="9144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3931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多租戶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103120" y="3931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users 加 tenant_id，policy 依租戶隔離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4572000"/>
            <a:ext cx="9144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4572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Cron 任務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103120" y="45720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wrangler.toml [triggers]，每日自動報表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30936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8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🏢  樂雲商用方案（PoC 免費 30 天）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09360" y="20116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46520" y="2423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單部門 PoC + 基礎儀表板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058400" y="2240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NT$80-150萬/年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309360" y="30632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19050">
            <a:solidFill>
              <a:srgbClr val="F3802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4652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4652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多部門 Policy + 完整 Guardrails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058400" y="32918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38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NT$400-600萬/年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309360" y="41148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4652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446520" y="4526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全企業整合 + 24/7 SOC + TAM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058400" y="4343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NT$800-1,200萬/年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57200" y="5989320"/>
            <a:ext cx="11274552" cy="365760"/>
          </a:xfrm>
          <a:prstGeom prst="roundRect">
            <a:avLst>
              <a:gd name="adj" fmla="val 15000"/>
            </a:avLst>
          </a:prstGeom>
          <a:solidFill>
            <a:srgbClr val="F0F6FF"/>
          </a:solidFill>
          <a:ln/>
        </p:spPr>
      </p:sp>
      <p:sp>
        <p:nvSpPr>
          <p:cNvPr id="39" name="Shape 36"/>
          <p:cNvSpPr/>
          <p:nvPr/>
        </p:nvSpPr>
        <p:spPr>
          <a:xfrm>
            <a:off x="457200" y="5989320"/>
            <a:ext cx="54864" cy="365760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0" name="Text 37"/>
          <p:cNvSpPr/>
          <p:nvPr/>
        </p:nvSpPr>
        <p:spPr>
          <a:xfrm>
            <a:off x="640080" y="598932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聯絡：service@leyun.cloud · +886-2-77220055 · www.leyun.cloud · 講師 victor@leyun.cloud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LEYUN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感謝參與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☎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+886-2-77220055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www.leyun.cloud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victor@leyun.cloud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 實戰 · 樂雲智能 LEYUN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011680"/>
            <a:ext cx="91440" cy="1828800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2011680"/>
            <a:ext cx="6492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帶走 Repo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持續延伸學習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257800" y="391363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README · QUICK-START · COURSE-OUTLINE · cheatsheet 一應俱全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0" y="4617720"/>
            <a:ext cx="64008" cy="384048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4617720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8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 STEP — 課後問題請來信或加入樂雲學員交流社群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5074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提供 Basic / Advanced / Premium 三層商用方案，PoC 30 天免費試用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Cloudflare AI Gateway 實戰課程</dc:title>
  <dc:subject>PptxGenJS Presentation</dc:subject>
  <dc:creator>樂雲智能 LEYUN</dc:creator>
  <cp:lastModifiedBy>樂雲智能 LEYUN</cp:lastModifiedBy>
  <cp:revision>1</cp:revision>
  <dcterms:created xsi:type="dcterms:W3CDTF">2026-05-16T09:37:36Z</dcterms:created>
  <dcterms:modified xsi:type="dcterms:W3CDTF">2026-05-16T09:37:36Z</dcterms:modified>
</cp:coreProperties>
</file>